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0" r:id="rId4"/>
  </p:sldMasterIdLst>
  <p:sldIdLst>
    <p:sldId id="271" r:id="rId5"/>
    <p:sldId id="256" r:id="rId6"/>
    <p:sldId id="257" r:id="rId7"/>
    <p:sldId id="258" r:id="rId8"/>
    <p:sldId id="259" r:id="rId9"/>
    <p:sldId id="261" r:id="rId10"/>
    <p:sldId id="262" r:id="rId11"/>
    <p:sldId id="263" r:id="rId12"/>
    <p:sldId id="260" r:id="rId13"/>
    <p:sldId id="264" r:id="rId14"/>
    <p:sldId id="265" r:id="rId15"/>
    <p:sldId id="266" r:id="rId16"/>
    <p:sldId id="267" r:id="rId17"/>
    <p:sldId id="273" r:id="rId18"/>
    <p:sldId id="268" r:id="rId19"/>
    <p:sldId id="26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3FEA57E-7C1A-457B-A4CD-5DCEB057B502}" type="datetime1">
              <a:rPr lang="en-US" smtClean="0"/>
              <a:t>2/1/2021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Picture 2" descr="Desk with stethoscope and computer keyboard">
            <a:extLst>
              <a:ext uri="{FF2B5EF4-FFF2-40B4-BE49-F238E27FC236}">
                <a16:creationId xmlns:a16="http://schemas.microsoft.com/office/drawing/2014/main" id="{F0670EB7-DA5A-4E44-B146-469412D78E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992" r="-1" b="-1"/>
          <a:stretch/>
        </p:blipFill>
        <p:spPr>
          <a:xfrm>
            <a:off x="5410200" y="10"/>
            <a:ext cx="67818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02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28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82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041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214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2/1/2021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66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2/1/2021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46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687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7040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3746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9478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8789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87608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1789749-A4CD-447F-8298-2B7988C91CEA}" type="datetime1">
              <a:rPr lang="en-US" smtClean="0"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92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A0444D3-C0BA-4587-A56C-581AB9F841BE}" type="datetime1">
              <a:rPr lang="en-US" smtClean="0"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66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3FE42E8-8B57-452D-A122-4DCE9AC771EF}" type="datetime1">
              <a:rPr lang="en-US" smtClean="0"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8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14" r:id="rId4"/>
    <p:sldLayoutId id="2147484015" r:id="rId5"/>
    <p:sldLayoutId id="2147484016" r:id="rId6"/>
    <p:sldLayoutId id="2147484017" r:id="rId7"/>
    <p:sldLayoutId id="2147484018" r:id="rId8"/>
    <p:sldLayoutId id="2147484019" r:id="rId9"/>
    <p:sldLayoutId id="2147484020" r:id="rId10"/>
    <p:sldLayoutId id="2147484021" r:id="rId11"/>
    <p:sldLayoutId id="2147484022" r:id="rId12"/>
    <p:sldLayoutId id="2147484023" r:id="rId13"/>
    <p:sldLayoutId id="2147484024" r:id="rId14"/>
    <p:sldLayoutId id="2147484025" r:id="rId15"/>
    <p:sldLayoutId id="2147484026" r:id="rId16"/>
    <p:sldLayoutId id="214748402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71616407-3E4D-4469-BDAF-3837EBF9F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5" name="Picture 14" descr="Background pattern&#10;&#10;Description automatically generated">
            <a:extLst>
              <a:ext uri="{FF2B5EF4-FFF2-40B4-BE49-F238E27FC236}">
                <a16:creationId xmlns:a16="http://schemas.microsoft.com/office/drawing/2014/main" id="{1A28CD05-D726-495F-B3BE-835A8AD5EE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18" r="10759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83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06F1B-D110-4E34-85DB-3EB4F2183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0057" y="1646852"/>
            <a:ext cx="3928186" cy="3564294"/>
          </a:xfrm>
        </p:spPr>
        <p:txBody>
          <a:bodyPr>
            <a:noAutofit/>
          </a:bodyPr>
          <a:lstStyle/>
          <a:p>
            <a:pPr algn="ctr"/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MEDICAL SURGICAL NURSING</a:t>
            </a:r>
            <a:b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II</a:t>
            </a:r>
            <a:endParaRPr lang="en-IN"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9" name="Picture 2" descr="Desk with stethoscope and computer keyboard">
            <a:extLst>
              <a:ext uri="{FF2B5EF4-FFF2-40B4-BE49-F238E27FC236}">
                <a16:creationId xmlns:a16="http://schemas.microsoft.com/office/drawing/2014/main" id="{37A2768E-C6FF-4DE7-ACD0-82C5A6DC30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992" r="-1" b="-1"/>
          <a:stretch/>
        </p:blipFill>
        <p:spPr>
          <a:xfrm>
            <a:off x="5410200" y="10"/>
            <a:ext cx="67818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4324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26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9" name="Rectangle 30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0" name="Freeform 5">
            <a:extLst>
              <a:ext uri="{FF2B5EF4-FFF2-40B4-BE49-F238E27FC236}">
                <a16:creationId xmlns:a16="http://schemas.microsoft.com/office/drawing/2014/main" id="{2D529E20-662F-4915-ACD7-970C026F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3527283" y="1857885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  <p:pic>
        <p:nvPicPr>
          <p:cNvPr id="4" name="Picture 3" descr="A picture containing table, indoor, floor, wooden&#10;&#10;Description automatically generated">
            <a:extLst>
              <a:ext uri="{FF2B5EF4-FFF2-40B4-BE49-F238E27FC236}">
                <a16:creationId xmlns:a16="http://schemas.microsoft.com/office/drawing/2014/main" id="{6FD6FA14-3304-40A6-97CF-BFB60866C1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14" r="18997" b="-1"/>
          <a:stretch/>
        </p:blipFill>
        <p:spPr>
          <a:xfrm>
            <a:off x="423337" y="402166"/>
            <a:ext cx="4932951" cy="6053670"/>
          </a:xfrm>
          <a:custGeom>
            <a:avLst/>
            <a:gdLst/>
            <a:ahLst/>
            <a:cxnLst/>
            <a:rect l="l" t="t" r="r" b="b"/>
            <a:pathLst>
              <a:path w="4932951" h="6053670">
                <a:moveTo>
                  <a:pt x="0" y="0"/>
                </a:moveTo>
                <a:lnTo>
                  <a:pt x="3678393" y="0"/>
                </a:lnTo>
                <a:lnTo>
                  <a:pt x="4478865" y="0"/>
                </a:lnTo>
                <a:lnTo>
                  <a:pt x="4931853" y="0"/>
                </a:lnTo>
                <a:lnTo>
                  <a:pt x="4908487" y="137419"/>
                </a:lnTo>
                <a:lnTo>
                  <a:pt x="4886218" y="274232"/>
                </a:lnTo>
                <a:lnTo>
                  <a:pt x="4864421" y="411650"/>
                </a:lnTo>
                <a:lnTo>
                  <a:pt x="4845759" y="549673"/>
                </a:lnTo>
                <a:lnTo>
                  <a:pt x="4826941" y="687092"/>
                </a:lnTo>
                <a:lnTo>
                  <a:pt x="4809377" y="825115"/>
                </a:lnTo>
                <a:lnTo>
                  <a:pt x="4794322" y="961323"/>
                </a:lnTo>
                <a:lnTo>
                  <a:pt x="4780052" y="1099347"/>
                </a:lnTo>
                <a:lnTo>
                  <a:pt x="4767035" y="1236765"/>
                </a:lnTo>
                <a:lnTo>
                  <a:pt x="4755744" y="1371761"/>
                </a:lnTo>
                <a:lnTo>
                  <a:pt x="4744453" y="1508574"/>
                </a:lnTo>
                <a:lnTo>
                  <a:pt x="4735044" y="1643572"/>
                </a:lnTo>
                <a:lnTo>
                  <a:pt x="4727674" y="1778568"/>
                </a:lnTo>
                <a:lnTo>
                  <a:pt x="4719990" y="1912960"/>
                </a:lnTo>
                <a:lnTo>
                  <a:pt x="4713560" y="2046141"/>
                </a:lnTo>
                <a:lnTo>
                  <a:pt x="4709012" y="2178111"/>
                </a:lnTo>
                <a:lnTo>
                  <a:pt x="4705092" y="2310081"/>
                </a:lnTo>
                <a:lnTo>
                  <a:pt x="4701328" y="2440840"/>
                </a:lnTo>
                <a:lnTo>
                  <a:pt x="4699603" y="2569783"/>
                </a:lnTo>
                <a:lnTo>
                  <a:pt x="4697721" y="2698726"/>
                </a:lnTo>
                <a:lnTo>
                  <a:pt x="4696780" y="2825853"/>
                </a:lnTo>
                <a:lnTo>
                  <a:pt x="4697721" y="2951770"/>
                </a:lnTo>
                <a:lnTo>
                  <a:pt x="4697721" y="3076475"/>
                </a:lnTo>
                <a:lnTo>
                  <a:pt x="4699603" y="3199970"/>
                </a:lnTo>
                <a:lnTo>
                  <a:pt x="4702426" y="3321043"/>
                </a:lnTo>
                <a:lnTo>
                  <a:pt x="4705092" y="3440906"/>
                </a:lnTo>
                <a:lnTo>
                  <a:pt x="4708071" y="3558347"/>
                </a:lnTo>
                <a:lnTo>
                  <a:pt x="4712619" y="3675183"/>
                </a:lnTo>
                <a:lnTo>
                  <a:pt x="4717480" y="3790203"/>
                </a:lnTo>
                <a:lnTo>
                  <a:pt x="4721871" y="3902801"/>
                </a:lnTo>
                <a:lnTo>
                  <a:pt x="4734260" y="4122549"/>
                </a:lnTo>
                <a:lnTo>
                  <a:pt x="4747433" y="4333217"/>
                </a:lnTo>
                <a:lnTo>
                  <a:pt x="4761233" y="4535409"/>
                </a:lnTo>
                <a:lnTo>
                  <a:pt x="4776445" y="4726705"/>
                </a:lnTo>
                <a:lnTo>
                  <a:pt x="4792283" y="4909526"/>
                </a:lnTo>
                <a:lnTo>
                  <a:pt x="4809377" y="5079029"/>
                </a:lnTo>
                <a:lnTo>
                  <a:pt x="4826157" y="5238240"/>
                </a:lnTo>
                <a:lnTo>
                  <a:pt x="4842936" y="5384739"/>
                </a:lnTo>
                <a:lnTo>
                  <a:pt x="4858775" y="5519131"/>
                </a:lnTo>
                <a:lnTo>
                  <a:pt x="4873830" y="5638388"/>
                </a:lnTo>
                <a:lnTo>
                  <a:pt x="4888100" y="5746143"/>
                </a:lnTo>
                <a:lnTo>
                  <a:pt x="4900019" y="5836948"/>
                </a:lnTo>
                <a:lnTo>
                  <a:pt x="4911310" y="5913225"/>
                </a:lnTo>
                <a:lnTo>
                  <a:pt x="4927462" y="6017953"/>
                </a:lnTo>
                <a:lnTo>
                  <a:pt x="4932951" y="6053670"/>
                </a:lnTo>
                <a:lnTo>
                  <a:pt x="4478865" y="6053670"/>
                </a:lnTo>
                <a:lnTo>
                  <a:pt x="3683097" y="6053670"/>
                </a:lnTo>
                <a:lnTo>
                  <a:pt x="0" y="6053670"/>
                </a:lnTo>
                <a:close/>
              </a:path>
            </a:pathLst>
          </a:custGeom>
        </p:spPr>
      </p:pic>
      <p:sp>
        <p:nvSpPr>
          <p:cNvPr id="35" name="Freeform 5">
            <a:extLst>
              <a:ext uri="{FF2B5EF4-FFF2-40B4-BE49-F238E27FC236}">
                <a16:creationId xmlns:a16="http://schemas.microsoft.com/office/drawing/2014/main" id="{1AD5EB79-7F9A-4BBC-92A5-188382CBA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1C4AA0-0843-4EA2-B165-C064AB7E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5061" y="1241266"/>
            <a:ext cx="5428551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Cardiogenic Shock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9B8A17F-DC3A-4D9A-AA53-9BFB894CD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0050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FAAFE6-BAF3-4839-B2E3-8B80AAEC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 sz="4800" dirty="0">
                <a:solidFill>
                  <a:schemeClr val="tx1"/>
                </a:solidFill>
              </a:rPr>
              <a:t>Definition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B380B-4920-4D1D-AFD3-8D11384E5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Cardiogenic shock is a condition in which your heart suddenly cannot pump enough blood to meet your body needs. The condition is most often caused by a severe heart attack, but not everyone who has heart attack has cardiogenic shock. It is rare but it is often, if not, treated immediately.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9736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FAAFE6-BAF3-4839-B2E3-8B80AAEC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 sz="4800" dirty="0">
                <a:solidFill>
                  <a:schemeClr val="tx1"/>
                </a:solidFill>
              </a:rPr>
              <a:t>Types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B380B-4920-4D1D-AFD3-8D11384E5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Damage to your heart muscle</a:t>
            </a:r>
          </a:p>
          <a:p>
            <a:r>
              <a:rPr lang="en-US" sz="2400" dirty="0">
                <a:solidFill>
                  <a:schemeClr val="tx1"/>
                </a:solidFill>
              </a:rPr>
              <a:t>Irregular heart rhythm</a:t>
            </a:r>
          </a:p>
          <a:p>
            <a:r>
              <a:rPr lang="en-US" sz="2400" dirty="0">
                <a:solidFill>
                  <a:schemeClr val="tx1"/>
                </a:solidFill>
              </a:rPr>
              <a:t>Very slow heart rhythm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277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FAAFE6-BAF3-4839-B2E3-8B80AAEC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 sz="4800" dirty="0">
                <a:solidFill>
                  <a:schemeClr val="tx1"/>
                </a:solidFill>
              </a:rPr>
              <a:t>Sign </a:t>
            </a:r>
            <a:br>
              <a:rPr lang="en-US" sz="4800" dirty="0">
                <a:solidFill>
                  <a:schemeClr val="tx1"/>
                </a:solidFill>
              </a:rPr>
            </a:br>
            <a:r>
              <a:rPr lang="en-US" sz="4800" dirty="0">
                <a:solidFill>
                  <a:schemeClr val="tx1"/>
                </a:solidFill>
              </a:rPr>
              <a:t>&amp; Symptoms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B380B-4920-4D1D-AFD3-8D11384E5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Fever</a:t>
            </a:r>
          </a:p>
          <a:p>
            <a:r>
              <a:rPr lang="en-US" sz="2400" dirty="0">
                <a:solidFill>
                  <a:schemeClr val="tx1"/>
                </a:solidFill>
              </a:rPr>
              <a:t>Respiratory distress</a:t>
            </a:r>
          </a:p>
          <a:p>
            <a:r>
              <a:rPr lang="en-US" sz="2400" dirty="0">
                <a:solidFill>
                  <a:schemeClr val="tx1"/>
                </a:solidFill>
              </a:rPr>
              <a:t>Tachycardia</a:t>
            </a:r>
          </a:p>
          <a:p>
            <a:r>
              <a:rPr lang="en-US" sz="2400" dirty="0">
                <a:solidFill>
                  <a:schemeClr val="tx1"/>
                </a:solidFill>
              </a:rPr>
              <a:t>Hypertension</a:t>
            </a:r>
          </a:p>
          <a:p>
            <a:r>
              <a:rPr lang="en-US" sz="2400" dirty="0">
                <a:solidFill>
                  <a:schemeClr val="tx1"/>
                </a:solidFill>
              </a:rPr>
              <a:t>Gallop rhythm</a:t>
            </a:r>
          </a:p>
        </p:txBody>
      </p:sp>
    </p:spTree>
    <p:extLst>
      <p:ext uri="{BB962C8B-B14F-4D97-AF65-F5344CB8AC3E}">
        <p14:creationId xmlns:p14="http://schemas.microsoft.com/office/powerpoint/2010/main" val="2126981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FAAFE6-BAF3-4839-B2E3-8B80AAEC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 sz="4800" dirty="0">
                <a:solidFill>
                  <a:schemeClr val="tx1"/>
                </a:solidFill>
              </a:rPr>
              <a:t>Causes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B380B-4920-4D1D-AFD3-8D11384E5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Pump failure</a:t>
            </a:r>
          </a:p>
          <a:p>
            <a:r>
              <a:rPr lang="en-US" sz="2400" dirty="0">
                <a:solidFill>
                  <a:schemeClr val="tx1"/>
                </a:solidFill>
              </a:rPr>
              <a:t>Right vascular infarction</a:t>
            </a:r>
          </a:p>
          <a:p>
            <a:r>
              <a:rPr lang="en-US" sz="2400" dirty="0">
                <a:solidFill>
                  <a:schemeClr val="tx1"/>
                </a:solidFill>
              </a:rPr>
              <a:t>End-stage cardio myopathy</a:t>
            </a:r>
          </a:p>
          <a:p>
            <a:r>
              <a:rPr lang="en-US" sz="2400" dirty="0">
                <a:solidFill>
                  <a:schemeClr val="tx1"/>
                </a:solidFill>
              </a:rPr>
              <a:t>Myocardial contusion</a:t>
            </a:r>
          </a:p>
          <a:p>
            <a:r>
              <a:rPr lang="en-IN" sz="2400" dirty="0">
                <a:solidFill>
                  <a:schemeClr val="tx1"/>
                </a:solidFill>
              </a:rPr>
              <a:t>Valvular disease</a:t>
            </a:r>
          </a:p>
          <a:p>
            <a:r>
              <a:rPr lang="en-IN" sz="2400">
                <a:solidFill>
                  <a:schemeClr val="tx1"/>
                </a:solidFill>
              </a:rPr>
              <a:t>Septic </a:t>
            </a:r>
            <a:r>
              <a:rPr lang="en-IN" sz="2400" dirty="0">
                <a:solidFill>
                  <a:schemeClr val="tx1"/>
                </a:solidFill>
              </a:rPr>
              <a:t>shock with myocardial depression</a:t>
            </a:r>
          </a:p>
        </p:txBody>
      </p:sp>
    </p:spTree>
    <p:extLst>
      <p:ext uri="{BB962C8B-B14F-4D97-AF65-F5344CB8AC3E}">
        <p14:creationId xmlns:p14="http://schemas.microsoft.com/office/powerpoint/2010/main" val="34947976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FAAFE6-BAF3-4839-B2E3-8B80AAEC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Complications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B380B-4920-4D1D-AFD3-8D11384E5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r>
              <a:rPr lang="en-US" sz="2400" dirty="0"/>
              <a:t>Severe brain damage</a:t>
            </a:r>
          </a:p>
          <a:p>
            <a:r>
              <a:rPr lang="en-US" sz="2400" dirty="0">
                <a:solidFill>
                  <a:schemeClr val="tx1"/>
                </a:solidFill>
              </a:rPr>
              <a:t>Kidney damage</a:t>
            </a:r>
          </a:p>
          <a:p>
            <a:r>
              <a:rPr lang="en-US" sz="2400" dirty="0">
                <a:solidFill>
                  <a:schemeClr val="tx1"/>
                </a:solidFill>
              </a:rPr>
              <a:t>Liver damage</a:t>
            </a:r>
          </a:p>
          <a:p>
            <a:r>
              <a:rPr lang="en-US" sz="2400" dirty="0">
                <a:solidFill>
                  <a:schemeClr val="tx1"/>
                </a:solidFill>
              </a:rPr>
              <a:t>Multiple organs failure (MOF)</a:t>
            </a:r>
          </a:p>
          <a:p>
            <a:r>
              <a:rPr lang="en-US" sz="2400" dirty="0">
                <a:solidFill>
                  <a:schemeClr val="tx1"/>
                </a:solidFill>
              </a:rPr>
              <a:t>Coma </a:t>
            </a:r>
            <a:r>
              <a:rPr lang="en-US" sz="2400">
                <a:solidFill>
                  <a:schemeClr val="tx1"/>
                </a:solidFill>
              </a:rPr>
              <a:t>and death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77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88DD50E-1D2D-48C6-A470-79FB7F337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78DAAE-B0C3-49A3-8AB1-AD2FF0E3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A8A81D-3338-4B0F-A26F-A3D259D2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155665-7CE2-4939-AE5E-020DC1D20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451B37-DA96-47FF-949F-2E8D83F76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588" y="1119291"/>
            <a:ext cx="4920823" cy="461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52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FAAFE6-BAF3-4839-B2E3-8B80AAEC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 sz="4800" dirty="0">
                <a:solidFill>
                  <a:schemeClr val="tx1"/>
                </a:solidFill>
              </a:rPr>
              <a:t>Prevention</a:t>
            </a:r>
            <a:endParaRPr lang="en-IN" sz="48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B380B-4920-4D1D-AFD3-8D11384E5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r>
              <a:rPr lang="en-US" sz="2400" dirty="0"/>
              <a:t>Don’t smoke</a:t>
            </a:r>
          </a:p>
          <a:p>
            <a:r>
              <a:rPr lang="en-US" sz="2400" dirty="0">
                <a:solidFill>
                  <a:schemeClr val="tx1"/>
                </a:solidFill>
              </a:rPr>
              <a:t>Maintain a healthy weight</a:t>
            </a:r>
          </a:p>
          <a:p>
            <a:r>
              <a:rPr lang="en-US" sz="2400" dirty="0">
                <a:solidFill>
                  <a:schemeClr val="tx1"/>
                </a:solidFill>
              </a:rPr>
              <a:t>Eat less cholesterol</a:t>
            </a:r>
          </a:p>
          <a:p>
            <a:r>
              <a:rPr lang="en-US" sz="2400" dirty="0">
                <a:solidFill>
                  <a:schemeClr val="tx1"/>
                </a:solidFill>
              </a:rPr>
              <a:t>Limit added sugar and alcohol</a:t>
            </a:r>
          </a:p>
          <a:p>
            <a:r>
              <a:rPr lang="en-US" sz="2400" dirty="0">
                <a:solidFill>
                  <a:schemeClr val="tx1"/>
                </a:solidFill>
              </a:rPr>
              <a:t>Exercise regularly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493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FAAFE6-BAF3-4839-B2E3-8B80AAEC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 sz="4800" dirty="0">
                <a:solidFill>
                  <a:schemeClr val="tx1"/>
                </a:solidFill>
              </a:rPr>
              <a:t>Diagnostic</a:t>
            </a:r>
            <a:br>
              <a:rPr lang="en-US" sz="4800" dirty="0">
                <a:solidFill>
                  <a:schemeClr val="tx1"/>
                </a:solidFill>
              </a:rPr>
            </a:br>
            <a:r>
              <a:rPr lang="en-US" sz="4800" dirty="0">
                <a:solidFill>
                  <a:schemeClr val="tx1"/>
                </a:solidFill>
              </a:rPr>
              <a:t>Evaluation</a:t>
            </a:r>
            <a:endParaRPr lang="en-IN" sz="48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B380B-4920-4D1D-AFD3-8D11384E5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r>
              <a:rPr lang="en-US" sz="2400" dirty="0"/>
              <a:t>History</a:t>
            </a:r>
          </a:p>
          <a:p>
            <a:r>
              <a:rPr lang="en-US" sz="2400" dirty="0">
                <a:solidFill>
                  <a:schemeClr val="tx1"/>
                </a:solidFill>
              </a:rPr>
              <a:t>Physical examination</a:t>
            </a:r>
          </a:p>
          <a:p>
            <a:r>
              <a:rPr lang="en-US" sz="2400" dirty="0">
                <a:solidFill>
                  <a:schemeClr val="tx1"/>
                </a:solidFill>
              </a:rPr>
              <a:t>ECG</a:t>
            </a:r>
          </a:p>
          <a:p>
            <a:r>
              <a:rPr lang="en-US" sz="2400" dirty="0">
                <a:solidFill>
                  <a:schemeClr val="tx1"/>
                </a:solidFill>
              </a:rPr>
              <a:t>Cardiac biomarker</a:t>
            </a:r>
          </a:p>
          <a:p>
            <a:r>
              <a:rPr lang="en-US" sz="2400" dirty="0">
                <a:solidFill>
                  <a:schemeClr val="tx1"/>
                </a:solidFill>
              </a:rPr>
              <a:t>CXR</a:t>
            </a:r>
          </a:p>
          <a:p>
            <a:r>
              <a:rPr lang="en-US" sz="2400" dirty="0">
                <a:solidFill>
                  <a:schemeClr val="tx1"/>
                </a:solidFill>
              </a:rPr>
              <a:t>Echocardiography</a:t>
            </a:r>
          </a:p>
          <a:p>
            <a:r>
              <a:rPr lang="en-US" sz="2400" dirty="0">
                <a:solidFill>
                  <a:schemeClr val="tx1"/>
                </a:solidFill>
              </a:rPr>
              <a:t>Pulmonary artery catheterization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481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FAAFE6-BAF3-4839-B2E3-8B80AAEC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Medical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Management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B380B-4920-4D1D-AFD3-8D11384E5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r>
              <a:rPr lang="en-US" sz="2400" dirty="0"/>
              <a:t>Goals – Airway stability and improving myocardial pump function</a:t>
            </a:r>
          </a:p>
          <a:p>
            <a:r>
              <a:rPr lang="en-US" sz="2400" dirty="0">
                <a:solidFill>
                  <a:schemeClr val="tx1"/>
                </a:solidFill>
              </a:rPr>
              <a:t>Cardiac monitor</a:t>
            </a:r>
          </a:p>
          <a:p>
            <a:r>
              <a:rPr lang="en-US" sz="2400" dirty="0">
                <a:solidFill>
                  <a:schemeClr val="tx1"/>
                </a:solidFill>
              </a:rPr>
              <a:t>Supplemental oxygen</a:t>
            </a:r>
          </a:p>
          <a:p>
            <a:r>
              <a:rPr lang="en-US" sz="2400" dirty="0">
                <a:solidFill>
                  <a:schemeClr val="tx1"/>
                </a:solidFill>
              </a:rPr>
              <a:t>Diuretics</a:t>
            </a:r>
          </a:p>
          <a:p>
            <a:r>
              <a:rPr lang="en-US" sz="2400" dirty="0">
                <a:solidFill>
                  <a:schemeClr val="tx1"/>
                </a:solidFill>
              </a:rPr>
              <a:t>Positive inotropic drugs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886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FAAFE6-BAF3-4839-B2E3-8B80AAEC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Surgical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Management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B380B-4920-4D1D-AFD3-8D11384E5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r>
              <a:rPr lang="en-US" sz="2400" dirty="0"/>
              <a:t>Coronary artery bypass graft (CABG)</a:t>
            </a:r>
          </a:p>
          <a:p>
            <a:r>
              <a:rPr lang="en-US" sz="2400" dirty="0">
                <a:solidFill>
                  <a:schemeClr val="tx1"/>
                </a:solidFill>
              </a:rPr>
              <a:t>Replacement of faulty cardiac valve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866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88DD50E-1D2D-48C6-A470-79FB7F337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78DAAE-B0C3-49A3-8AB1-AD2FF0E3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A8A81D-3338-4B0F-A26F-A3D259D2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155665-7CE2-4939-AE5E-020DC1D20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6ABBE567-EB9D-4399-8585-5AF9C4051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950" y="1924586"/>
            <a:ext cx="4728634" cy="3002682"/>
          </a:xfrm>
          <a:prstGeom prst="rect">
            <a:avLst/>
          </a:prstGeom>
        </p:spPr>
      </p:pic>
      <p:pic>
        <p:nvPicPr>
          <p:cNvPr id="3" name="Picture 2" descr="Logo, icon&#10;&#10;Description automatically generated">
            <a:extLst>
              <a:ext uri="{FF2B5EF4-FFF2-40B4-BE49-F238E27FC236}">
                <a16:creationId xmlns:a16="http://schemas.microsoft.com/office/drawing/2014/main" id="{280B048F-E622-42D3-AB06-D990AC5B2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050" y="1454997"/>
            <a:ext cx="3983251" cy="428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45446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FAAFE6-BAF3-4839-B2E3-8B80AAEC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Nursing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Management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B380B-4920-4D1D-AFD3-8D11384E5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6693" y="974324"/>
            <a:ext cx="5579707" cy="4909351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Providing comfort and psychological support</a:t>
            </a:r>
          </a:p>
          <a:p>
            <a:r>
              <a:rPr lang="en-US" sz="2400" dirty="0">
                <a:solidFill>
                  <a:schemeClr val="tx1"/>
                </a:solidFill>
              </a:rPr>
              <a:t>Moving the patient to prevent ulcer</a:t>
            </a:r>
          </a:p>
          <a:p>
            <a:r>
              <a:rPr lang="en-US" sz="2400" dirty="0">
                <a:solidFill>
                  <a:schemeClr val="tx1"/>
                </a:solidFill>
              </a:rPr>
              <a:t>Limiting activities</a:t>
            </a:r>
          </a:p>
          <a:p>
            <a:r>
              <a:rPr lang="en-US" sz="2400" dirty="0">
                <a:solidFill>
                  <a:schemeClr val="tx1"/>
                </a:solidFill>
              </a:rPr>
              <a:t>Providing calm and quiet environment to reduce anxiety</a:t>
            </a:r>
          </a:p>
          <a:p>
            <a:r>
              <a:rPr lang="en-US" sz="2400" dirty="0">
                <a:solidFill>
                  <a:schemeClr val="tx1"/>
                </a:solidFill>
              </a:rPr>
              <a:t>Monitoring the patient’s respiratory status</a:t>
            </a:r>
          </a:p>
          <a:p>
            <a:r>
              <a:rPr lang="en-US" sz="2400" dirty="0">
                <a:solidFill>
                  <a:schemeClr val="tx1"/>
                </a:solidFill>
              </a:rPr>
              <a:t>Administering prescribed medication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911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1ECA4FE-7D2F-4576-B767-3A5F5ABF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14" name="Rectangle 7">
              <a:extLst>
                <a:ext uri="{FF2B5EF4-FFF2-40B4-BE49-F238E27FC236}">
                  <a16:creationId xmlns:a16="http://schemas.microsoft.com/office/drawing/2014/main" id="{5969441E-5462-4859-86CD-1737FDE36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596BD4B5-6833-40CC-96FE-EDC675634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0006F1B-D110-4E34-85DB-3EB4F2183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1169773"/>
            <a:ext cx="8825658" cy="2870161"/>
          </a:xfrm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5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br>
              <a:rPr lang="en-US" sz="5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5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5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Questions ?</a:t>
            </a:r>
            <a:endParaRPr lang="en-IN" sz="50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1F53E2-F556-42FA-8D24-113839EE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58249" y="4166888"/>
            <a:ext cx="675502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CF4B2B7-7395-4CBC-ADEB-20E2B2A3C88F}"/>
              </a:ext>
            </a:extLst>
          </p:cNvPr>
          <p:cNvSpPr txBox="1"/>
          <p:nvPr/>
        </p:nvSpPr>
        <p:spPr>
          <a:xfrm>
            <a:off x="9659878" y="5365061"/>
            <a:ext cx="1697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Saima Akhtar</a:t>
            </a:r>
          </a:p>
          <a:p>
            <a:r>
              <a:rPr lang="en-US" dirty="0"/>
              <a:t>GNM 2</a:t>
            </a:r>
            <a:r>
              <a:rPr lang="en-US" dirty="0">
                <a:latin typeface="Microsoft Uighur" panose="02000000000000000000" pitchFamily="2" charset="-78"/>
                <a:cs typeface="Microsoft Uighur" panose="02000000000000000000" pitchFamily="2" charset="-78"/>
              </a:rPr>
              <a:t>nd</a:t>
            </a:r>
            <a:r>
              <a:rPr lang="en-US" dirty="0"/>
              <a:t> year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7641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000">
        <p15:prstTrans prst="curtains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ontrol xmlns="http://schemas.microsoft.com/VisualStudio/2011/storyboarding/control">
  <Id Name="System.Storyboarding.Backgrounds.WindowsPhone" Revision="1" Stencil="System.Storyboarding.Backgrounds" StencilVersion="0.1"/>
</Control>
</file>

<file path=customXml/item2.xml><?xml version="1.0" encoding="utf-8"?>
<Control xmlns="http://schemas.microsoft.com/VisualStudio/2011/storyboarding/control">
  <Id Name="System.Storyboarding.Backgrounds.WindowsPhoneLandscape" Revision="1" Stencil="System.Storyboarding.Backgrounds" StencilVersion="0.1"/>
</Control>
</file>

<file path=customXml/item3.xml><?xml version="1.0" encoding="utf-8"?>
<Control xmlns="http://schemas.microsoft.com/VisualStudio/2011/storyboarding/control">
  <Id Name="System.Storyboarding.Backgrounds.Window" Revision="1" Stencil="System.Storyboarding.Backgrounds" StencilVersion="0.1"/>
</Control>
</file>

<file path=customXml/itemProps1.xml><?xml version="1.0" encoding="utf-8"?>
<ds:datastoreItem xmlns:ds="http://schemas.openxmlformats.org/officeDocument/2006/customXml" ds:itemID="{4C8FB14D-782B-42D4-826B-D6E3B8E0EB73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F1F02D87-4856-4FDD-89B7-7A76D3DFD70B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3346EFCD-78B9-4A19-9ED5-7D1804E244BE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344</TotalTime>
  <Words>234</Words>
  <Application>Microsoft Office PowerPoint</Application>
  <PresentationFormat>Widescreen</PresentationFormat>
  <Paragraphs>60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Century Gothic</vt:lpstr>
      <vt:lpstr>Microsoft Uighur</vt:lpstr>
      <vt:lpstr>Wingdings 3</vt:lpstr>
      <vt:lpstr>Ion Boardroom</vt:lpstr>
      <vt:lpstr>PowerPoint Presentation</vt:lpstr>
      <vt:lpstr>MEDICAL SURGICAL NURSING II</vt:lpstr>
      <vt:lpstr>Cardiogenic Shock</vt:lpstr>
      <vt:lpstr>Definition</vt:lpstr>
      <vt:lpstr>Types</vt:lpstr>
      <vt:lpstr>Sign  &amp; Symptoms</vt:lpstr>
      <vt:lpstr>Causes</vt:lpstr>
      <vt:lpstr>Complications</vt:lpstr>
      <vt:lpstr>PowerPoint Presentation</vt:lpstr>
      <vt:lpstr>Prevention</vt:lpstr>
      <vt:lpstr>Diagnostic Evaluation</vt:lpstr>
      <vt:lpstr>Medical Management</vt:lpstr>
      <vt:lpstr>Surgical Management</vt:lpstr>
      <vt:lpstr>PowerPoint Presentation</vt:lpstr>
      <vt:lpstr>Nursing Management</vt:lpstr>
      <vt:lpstr>Thank you  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SURGICAL NURSING II</dc:title>
  <dc:creator>Rizwan Mohammed | MAQ Software</dc:creator>
  <cp:lastModifiedBy>Mohd Khan</cp:lastModifiedBy>
  <cp:revision>8</cp:revision>
  <dcterms:created xsi:type="dcterms:W3CDTF">2021-01-30T16:22:25Z</dcterms:created>
  <dcterms:modified xsi:type="dcterms:W3CDTF">2021-02-01T17:23:59Z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etDate">
    <vt:lpwstr>2021-01-30T17:29:02Z</vt:lpwstr>
  </property>
  <property fmtid="{D5CDD505-2E9C-101B-9397-08002B2CF9AE}" pid="4" name="MSIP_Label_f42aa342-8706-4288-bd11-ebb85995028c_Method">
    <vt:lpwstr>Standard</vt:lpwstr>
  </property>
  <property fmtid="{D5CDD505-2E9C-101B-9397-08002B2CF9AE}" pid="5" name="MSIP_Label_f42aa342-8706-4288-bd11-ebb85995028c_Name">
    <vt:lpwstr>Internal</vt:lpwstr>
  </property>
  <property fmtid="{D5CDD505-2E9C-101B-9397-08002B2CF9AE}" pid="6" name="MSIP_Label_f42aa342-8706-4288-bd11-ebb85995028c_SiteId">
    <vt:lpwstr>72f988bf-86f1-41af-91ab-2d7cd011db47</vt:lpwstr>
  </property>
  <property fmtid="{D5CDD505-2E9C-101B-9397-08002B2CF9AE}" pid="7" name="MSIP_Label_f42aa342-8706-4288-bd11-ebb85995028c_ActionId">
    <vt:lpwstr>5a74308e-6166-48b2-ba78-7530c450eb5e</vt:lpwstr>
  </property>
  <property fmtid="{D5CDD505-2E9C-101B-9397-08002B2CF9AE}" pid="8" name="MSIP_Label_f42aa342-8706-4288-bd11-ebb85995028c_ContentBits">
    <vt:lpwstr>0</vt:lpwstr>
  </property>
  <property fmtid="{D5CDD505-2E9C-101B-9397-08002B2CF9AE}" pid="9" name="Tfs.IsStoryboard">
    <vt:bool>true</vt:bool>
  </property>
</Properties>
</file>