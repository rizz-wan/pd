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0" r:id="rId4"/>
  </p:sldMasterIdLst>
  <p:sldIdLst>
    <p:sldId id="271" r:id="rId5"/>
    <p:sldId id="256" r:id="rId6"/>
    <p:sldId id="257" r:id="rId7"/>
    <p:sldId id="258" r:id="rId8"/>
    <p:sldId id="259" r:id="rId9"/>
    <p:sldId id="261" r:id="rId10"/>
    <p:sldId id="262" r:id="rId11"/>
    <p:sldId id="263" r:id="rId12"/>
    <p:sldId id="272" r:id="rId13"/>
    <p:sldId id="273" r:id="rId14"/>
    <p:sldId id="274" r:id="rId15"/>
    <p:sldId id="275" r:id="rId16"/>
    <p:sldId id="276" r:id="rId17"/>
    <p:sldId id="277" r:id="rId18"/>
    <p:sldId id="278" r:id="rId19"/>
    <p:sldId id="279" r:id="rId20"/>
    <p:sldId id="280" r:id="rId21"/>
    <p:sldId id="281" r:id="rId22"/>
    <p:sldId id="265" r:id="rId23"/>
    <p:sldId id="26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3FEA57E-7C1A-457B-A4CD-5DCEB057B502}" type="datetime1">
              <a:rPr lang="en-US" smtClean="0"/>
              <a:t>2/25/2021</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a:t>Sample Footer Text</a:t>
            </a:r>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8E28480-1C08-4458-AD97-0283E6FFD09D}" type="slidenum">
              <a:rPr lang="en-US" smtClean="0"/>
              <a:t>‹#›</a:t>
            </a:fld>
            <a:endParaRPr lang="en-US" dirty="0"/>
          </a:p>
        </p:txBody>
      </p:sp>
      <p:pic>
        <p:nvPicPr>
          <p:cNvPr id="13" name="Picture 2" descr="Desk with stethoscope and computer keyboard">
            <a:extLst>
              <a:ext uri="{FF2B5EF4-FFF2-40B4-BE49-F238E27FC236}">
                <a16:creationId xmlns:a16="http://schemas.microsoft.com/office/drawing/2014/main" id="{F0670EB7-DA5A-4E44-B146-469412D78E31}"/>
              </a:ext>
            </a:extLst>
          </p:cNvPr>
          <p:cNvPicPr>
            <a:picLocks noChangeAspect="1"/>
          </p:cNvPicPr>
          <p:nvPr userDrawn="1"/>
        </p:nvPicPr>
        <p:blipFill rotWithShape="1">
          <a:blip r:embed="rId3"/>
          <a:srcRect l="33992" r="-1" b="-1"/>
          <a:stretch/>
        </p:blipFill>
        <p:spPr>
          <a:xfrm>
            <a:off x="5410200" y="10"/>
            <a:ext cx="6781800" cy="6857990"/>
          </a:xfrm>
          <a:prstGeom prst="rect">
            <a:avLst/>
          </a:prstGeom>
        </p:spPr>
      </p:pic>
    </p:spTree>
    <p:extLst>
      <p:ext uri="{BB962C8B-B14F-4D97-AF65-F5344CB8AC3E}">
        <p14:creationId xmlns:p14="http://schemas.microsoft.com/office/powerpoint/2010/main" val="854402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1AF2CE-4F37-411C-A3EE-BBBE223265BF}" type="datetime1">
              <a:rPr lang="en-US" smtClean="0"/>
              <a:t>2/25/2021</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718628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6083D4-708C-4BB5-B4FD-30CE9FA12FD5}" type="datetime1">
              <a:rPr lang="en-US" smtClean="0"/>
              <a:t>2/25/2021</a:t>
            </a:fld>
            <a:endParaRPr lang="en-US"/>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898782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D239B2-65BC-4C2A-A62B-3EABFE9590E4}" type="datetime1">
              <a:rPr lang="en-US" smtClean="0"/>
              <a:t>2/25/2021</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4014041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E05F5A-E4A3-476F-A89E-C2B73F2431E4}" type="datetime1">
              <a:rPr lang="en-US" smtClean="0"/>
              <a:t>2/25/2021</a:t>
            </a:fld>
            <a:endParaRPr lang="en-US"/>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3926214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761515-4A26-4F31-9F61-5A10B1FABBFC}" type="datetime1">
              <a:rPr lang="en-US" smtClean="0"/>
              <a:t>2/25/2021</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773366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75DC65-7D1F-4BAB-9695-F7E734143E14}" type="datetime1">
              <a:rPr lang="en-US" smtClean="0"/>
              <a:t>2/25/2021</a:t>
            </a:fld>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410156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624077-BD55-4036-8E92-6558FDF3B653}" type="datetime1">
              <a:rPr lang="en-US" smtClean="0"/>
              <a:t>2/25/2021</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9321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4225F2-7107-4609-BCC2-77C63064A5E8}" type="datetime1">
              <a:rPr lang="en-US" smtClean="0"/>
              <a:t>2/25/2021</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056466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FE42E8-8B57-452D-A122-4DCE9AC771EF}" type="datetime1">
              <a:rPr lang="en-US" smtClean="0"/>
              <a:t>2/25/2021</a:t>
            </a:fld>
            <a:endParaRPr lang="en-US"/>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8E28480-1C08-4458-AD97-0283E6FFD09D}" type="slidenum">
              <a:rPr lang="en-US" smtClean="0"/>
              <a:pPr/>
              <a:t>‹#›</a:t>
            </a:fld>
            <a:endParaRPr lang="en-US"/>
          </a:p>
        </p:txBody>
      </p:sp>
    </p:spTree>
    <p:extLst>
      <p:ext uri="{BB962C8B-B14F-4D97-AF65-F5344CB8AC3E}">
        <p14:creationId xmlns:p14="http://schemas.microsoft.com/office/powerpoint/2010/main" val="18238687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3FE42E8-8B57-452D-A122-4DCE9AC771EF}" type="datetime1">
              <a:rPr lang="en-US" smtClean="0"/>
              <a:t>2/25/2021</a:t>
            </a:fld>
            <a:endParaRPr lang="en-US"/>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E28480-1C08-4458-AD97-0283E6FFD09D}" type="slidenum">
              <a:rPr lang="en-US" smtClean="0"/>
              <a:pPr/>
              <a:t>‹#›</a:t>
            </a:fld>
            <a:endParaRPr lang="en-US"/>
          </a:p>
        </p:txBody>
      </p:sp>
    </p:spTree>
    <p:extLst>
      <p:ext uri="{BB962C8B-B14F-4D97-AF65-F5344CB8AC3E}">
        <p14:creationId xmlns:p14="http://schemas.microsoft.com/office/powerpoint/2010/main" val="155127040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3FE42E8-8B57-452D-A122-4DCE9AC771EF}" type="datetime1">
              <a:rPr lang="en-US" smtClean="0"/>
              <a:t>2/25/2021</a:t>
            </a:fld>
            <a:endParaRPr lang="en-US"/>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E28480-1C08-4458-AD97-0283E6FFD09D}" type="slidenum">
              <a:rPr lang="en-US" smtClean="0"/>
              <a:pPr/>
              <a:t>‹#›</a:t>
            </a:fld>
            <a:endParaRPr lang="en-US"/>
          </a:p>
        </p:txBody>
      </p:sp>
    </p:spTree>
    <p:extLst>
      <p:ext uri="{BB962C8B-B14F-4D97-AF65-F5344CB8AC3E}">
        <p14:creationId xmlns:p14="http://schemas.microsoft.com/office/powerpoint/2010/main" val="351913746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FE42E8-8B57-452D-A122-4DCE9AC771EF}" type="datetime1">
              <a:rPr lang="en-US" smtClean="0"/>
              <a:t>2/25/2021</a:t>
            </a:fld>
            <a:endParaRPr lang="en-US"/>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E28480-1C08-4458-AD97-0283E6FFD09D}" type="slidenum">
              <a:rPr lang="en-US" smtClean="0"/>
              <a:pPr/>
              <a:t>‹#›</a:t>
            </a:fld>
            <a:endParaRPr lang="en-US"/>
          </a:p>
        </p:txBody>
      </p:sp>
    </p:spTree>
    <p:extLst>
      <p:ext uri="{BB962C8B-B14F-4D97-AF65-F5344CB8AC3E}">
        <p14:creationId xmlns:p14="http://schemas.microsoft.com/office/powerpoint/2010/main" val="106849478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3FE42E8-8B57-452D-A122-4DCE9AC771EF}" type="datetime1">
              <a:rPr lang="en-US" smtClean="0"/>
              <a:t>2/25/2021</a:t>
            </a:fld>
            <a:endParaRPr lang="en-US"/>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F8E28480-1C08-4458-AD97-0283E6FFD09D}" type="slidenum">
              <a:rPr lang="en-US" smtClean="0"/>
              <a:pPr/>
              <a:t>‹#›</a:t>
            </a:fld>
            <a:endParaRPr lang="en-US"/>
          </a:p>
        </p:txBody>
      </p:sp>
    </p:spTree>
    <p:extLst>
      <p:ext uri="{BB962C8B-B14F-4D97-AF65-F5344CB8AC3E}">
        <p14:creationId xmlns:p14="http://schemas.microsoft.com/office/powerpoint/2010/main" val="213208789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3FE42E8-8B57-452D-A122-4DCE9AC771EF}" type="datetime1">
              <a:rPr lang="en-US" smtClean="0"/>
              <a:t>2/25/2021</a:t>
            </a:fld>
            <a:endParaRPr lang="en-US"/>
          </a:p>
        </p:txBody>
      </p:sp>
      <p:sp>
        <p:nvSpPr>
          <p:cNvPr id="8" name="Footer Placeholder 7"/>
          <p:cNvSpPr>
            <a:spLocks noGrp="1"/>
          </p:cNvSpPr>
          <p:nvPr>
            <p:ph type="ftr" sz="quarter" idx="11"/>
          </p:nvPr>
        </p:nvSpPr>
        <p:spPr>
          <a:xfrm>
            <a:off x="561111" y="6391838"/>
            <a:ext cx="3644282" cy="304801"/>
          </a:xfrm>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F8E28480-1C08-4458-AD97-0283E6FFD09D}" type="slidenum">
              <a:rPr lang="en-US" smtClean="0"/>
              <a:pPr/>
              <a:t>‹#›</a:t>
            </a:fld>
            <a:endParaRPr lang="en-US"/>
          </a:p>
        </p:txBody>
      </p:sp>
    </p:spTree>
    <p:extLst>
      <p:ext uri="{BB962C8B-B14F-4D97-AF65-F5344CB8AC3E}">
        <p14:creationId xmlns:p14="http://schemas.microsoft.com/office/powerpoint/2010/main" val="71487608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1789749-A4CD-447F-8298-2B7988C91CEA}" type="datetime1">
              <a:rPr lang="en-US" smtClean="0"/>
              <a:t>2/25/2021</a:t>
            </a:fld>
            <a:endParaRPr lang="en-US"/>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832192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BA0444D3-C0BA-4587-A56C-581AB9F841BE}" type="datetime1">
              <a:rPr lang="en-US" smtClean="0"/>
              <a:t>2/25/2021</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842666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D3FE42E8-8B57-452D-A122-4DCE9AC771EF}" type="datetime1">
              <a:rPr lang="en-US" smtClean="0"/>
              <a:t>2/25/2021</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Sample Footer Text</a:t>
            </a:r>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8E28480-1C08-4458-AD97-0283E6FFD09D}" type="slidenum">
              <a:rPr lang="en-US" smtClean="0"/>
              <a:pPr/>
              <a:t>‹#›</a:t>
            </a:fld>
            <a:endParaRPr lang="en-US"/>
          </a:p>
        </p:txBody>
      </p:sp>
    </p:spTree>
    <p:extLst>
      <p:ext uri="{BB962C8B-B14F-4D97-AF65-F5344CB8AC3E}">
        <p14:creationId xmlns:p14="http://schemas.microsoft.com/office/powerpoint/2010/main" val="584788057"/>
      </p:ext>
    </p:extLst>
  </p:cSld>
  <p:clrMap bg1="lt1" tx1="dk1" bg2="lt2" tx2="dk2" accent1="accent1" accent2="accent2" accent3="accent3" accent4="accent4" accent5="accent5" accent6="accent6" hlink="hlink" folHlink="folHlink"/>
  <p:sldLayoutIdLst>
    <p:sldLayoutId id="2147484011" r:id="rId1"/>
    <p:sldLayoutId id="2147484012" r:id="rId2"/>
    <p:sldLayoutId id="2147484013" r:id="rId3"/>
    <p:sldLayoutId id="2147484014" r:id="rId4"/>
    <p:sldLayoutId id="2147484015" r:id="rId5"/>
    <p:sldLayoutId id="2147484016" r:id="rId6"/>
    <p:sldLayoutId id="2147484017" r:id="rId7"/>
    <p:sldLayoutId id="2147484018" r:id="rId8"/>
    <p:sldLayoutId id="2147484019" r:id="rId9"/>
    <p:sldLayoutId id="2147484020" r:id="rId10"/>
    <p:sldLayoutId id="2147484021" r:id="rId11"/>
    <p:sldLayoutId id="2147484022" r:id="rId12"/>
    <p:sldLayoutId id="2147484023" r:id="rId13"/>
    <p:sldLayoutId id="2147484024" r:id="rId14"/>
    <p:sldLayoutId id="2147484025" r:id="rId15"/>
    <p:sldLayoutId id="2147484026" r:id="rId16"/>
    <p:sldLayoutId id="2147484027"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71616407-3E4D-4469-BDAF-3837EBF9FD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15" name="Picture 14" descr="Background pattern&#10;&#10;Description automatically generated">
            <a:extLst>
              <a:ext uri="{FF2B5EF4-FFF2-40B4-BE49-F238E27FC236}">
                <a16:creationId xmlns:a16="http://schemas.microsoft.com/office/drawing/2014/main" id="{1A28CD05-D726-495F-B3BE-835A8AD5EEC6}"/>
              </a:ext>
            </a:extLst>
          </p:cNvPr>
          <p:cNvPicPr>
            <a:picLocks noChangeAspect="1"/>
          </p:cNvPicPr>
          <p:nvPr/>
        </p:nvPicPr>
        <p:blipFill rotWithShape="1">
          <a:blip r:embed="rId2"/>
          <a:srcRect l="7018" r="10759" b="-1"/>
          <a:stretch/>
        </p:blipFill>
        <p:spPr>
          <a:xfrm>
            <a:off x="20" y="10"/>
            <a:ext cx="12191980" cy="6857990"/>
          </a:xfrm>
          <a:prstGeom prst="rect">
            <a:avLst/>
          </a:prstGeom>
        </p:spPr>
      </p:pic>
    </p:spTree>
    <p:extLst>
      <p:ext uri="{BB962C8B-B14F-4D97-AF65-F5344CB8AC3E}">
        <p14:creationId xmlns:p14="http://schemas.microsoft.com/office/powerpoint/2010/main" val="427783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06F1B-D110-4E34-85DB-3EB4F2183681}"/>
              </a:ext>
            </a:extLst>
          </p:cNvPr>
          <p:cNvSpPr>
            <a:spLocks noGrp="1"/>
          </p:cNvSpPr>
          <p:nvPr>
            <p:ph type="ctrTitle"/>
          </p:nvPr>
        </p:nvSpPr>
        <p:spPr>
          <a:xfrm>
            <a:off x="760057" y="1646852"/>
            <a:ext cx="3928186" cy="3564294"/>
          </a:xfrm>
        </p:spPr>
        <p:txBody>
          <a:bodyPr>
            <a:noAutofit/>
          </a:bodyPr>
          <a:lstStyle/>
          <a:p>
            <a:pPr algn="ctr"/>
            <a:r>
              <a:rPr lang="en-US" sz="6000" dirty="0">
                <a:latin typeface="Calibri" panose="020F0502020204030204" pitchFamily="34" charset="0"/>
                <a:cs typeface="Calibri" panose="020F0502020204030204" pitchFamily="34" charset="0"/>
              </a:rPr>
              <a:t>Psychiatric</a:t>
            </a:r>
            <a:br>
              <a:rPr lang="en-US" sz="6000" dirty="0">
                <a:latin typeface="Calibri" panose="020F0502020204030204" pitchFamily="34" charset="0"/>
                <a:cs typeface="Calibri" panose="020F0502020204030204" pitchFamily="34" charset="0"/>
              </a:rPr>
            </a:br>
            <a:br>
              <a:rPr lang="en-US" sz="6000" dirty="0">
                <a:latin typeface="Calibri" panose="020F0502020204030204" pitchFamily="34" charset="0"/>
                <a:cs typeface="Calibri" panose="020F0502020204030204" pitchFamily="34" charset="0"/>
              </a:rPr>
            </a:br>
            <a:endParaRPr lang="en-IN" sz="6000" dirty="0">
              <a:latin typeface="Calibri" panose="020F0502020204030204" pitchFamily="34" charset="0"/>
              <a:cs typeface="Calibri" panose="020F0502020204030204" pitchFamily="34" charset="0"/>
            </a:endParaRPr>
          </a:p>
        </p:txBody>
      </p:sp>
      <p:pic>
        <p:nvPicPr>
          <p:cNvPr id="49" name="Picture 2" descr="Desk with stethoscope and computer keyboard">
            <a:extLst>
              <a:ext uri="{FF2B5EF4-FFF2-40B4-BE49-F238E27FC236}">
                <a16:creationId xmlns:a16="http://schemas.microsoft.com/office/drawing/2014/main" id="{37A2768E-C6FF-4DE7-ACD0-82C5A6DC3075}"/>
              </a:ext>
            </a:extLst>
          </p:cNvPr>
          <p:cNvPicPr>
            <a:picLocks noChangeAspect="1"/>
          </p:cNvPicPr>
          <p:nvPr/>
        </p:nvPicPr>
        <p:blipFill rotWithShape="1">
          <a:blip r:embed="rId2"/>
          <a:srcRect l="33992" r="-1" b="-1"/>
          <a:stretch/>
        </p:blipFill>
        <p:spPr>
          <a:xfrm>
            <a:off x="5410200" y="10"/>
            <a:ext cx="6781800" cy="6857990"/>
          </a:xfrm>
          <a:prstGeom prst="rect">
            <a:avLst/>
          </a:prstGeom>
        </p:spPr>
      </p:pic>
    </p:spTree>
    <p:extLst>
      <p:ext uri="{BB962C8B-B14F-4D97-AF65-F5344CB8AC3E}">
        <p14:creationId xmlns:p14="http://schemas.microsoft.com/office/powerpoint/2010/main" val="35074324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000">
        <p15:prstTrans prst="curtains"/>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8" name="Group 26">
            <a:extLst>
              <a:ext uri="{FF2B5EF4-FFF2-40B4-BE49-F238E27FC236}">
                <a16:creationId xmlns:a16="http://schemas.microsoft.com/office/drawing/2014/main" id="{6503EB0F-2257-4A3E-A73B-E1DE769B45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8" name="Rectangle 27">
              <a:extLst>
                <a:ext uri="{FF2B5EF4-FFF2-40B4-BE49-F238E27FC236}">
                  <a16:creationId xmlns:a16="http://schemas.microsoft.com/office/drawing/2014/main" id="{77012B2A-0D78-433A-8C68-8889D3DCD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Freeform 5">
              <a:extLst>
                <a:ext uri="{FF2B5EF4-FFF2-40B4-BE49-F238E27FC236}">
                  <a16:creationId xmlns:a16="http://schemas.microsoft.com/office/drawing/2014/main" id="{119D0202-ED3F-47CC-90E9-4E963BCDAB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9" name="Rectangle 30">
            <a:extLst>
              <a:ext uri="{FF2B5EF4-FFF2-40B4-BE49-F238E27FC236}">
                <a16:creationId xmlns:a16="http://schemas.microsoft.com/office/drawing/2014/main" id="{670D6F2B-93AF-47D6-9378-5E54BE0AC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0" name="Freeform 5">
            <a:extLst>
              <a:ext uri="{FF2B5EF4-FFF2-40B4-BE49-F238E27FC236}">
                <a16:creationId xmlns:a16="http://schemas.microsoft.com/office/drawing/2014/main" id="{2D529E20-662F-4915-ACD7-970C026FD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677511" flipH="1">
            <a:off x="3527283" y="1857885"/>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5" name="Freeform 5">
            <a:extLst>
              <a:ext uri="{FF2B5EF4-FFF2-40B4-BE49-F238E27FC236}">
                <a16:creationId xmlns:a16="http://schemas.microsoft.com/office/drawing/2014/main" id="{1AD5EB79-7F9A-4BBC-92A5-188382CBA1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sp>
        <p:nvSpPr>
          <p:cNvPr id="2" name="Title 1">
            <a:extLst>
              <a:ext uri="{FF2B5EF4-FFF2-40B4-BE49-F238E27FC236}">
                <a16:creationId xmlns:a16="http://schemas.microsoft.com/office/drawing/2014/main" id="{271C4AA0-0843-4EA2-B165-C064AB7ED8F9}"/>
              </a:ext>
            </a:extLst>
          </p:cNvPr>
          <p:cNvSpPr>
            <a:spLocks noGrp="1"/>
          </p:cNvSpPr>
          <p:nvPr>
            <p:ph type="title"/>
          </p:nvPr>
        </p:nvSpPr>
        <p:spPr>
          <a:xfrm>
            <a:off x="5695061" y="1241266"/>
            <a:ext cx="5428551" cy="3153753"/>
          </a:xfrm>
        </p:spPr>
        <p:txBody>
          <a:bodyPr vert="horz" lIns="91440" tIns="45720" rIns="91440" bIns="45720" rtlCol="0" anchor="b">
            <a:normAutofit/>
          </a:bodyPr>
          <a:lstStyle/>
          <a:p>
            <a:r>
              <a:rPr lang="en-US" sz="5400" dirty="0"/>
              <a:t>Mental Health Act</a:t>
            </a:r>
          </a:p>
        </p:txBody>
      </p:sp>
      <p:sp>
        <p:nvSpPr>
          <p:cNvPr id="37" name="Rectangle 36">
            <a:extLst>
              <a:ext uri="{FF2B5EF4-FFF2-40B4-BE49-F238E27FC236}">
                <a16:creationId xmlns:a16="http://schemas.microsoft.com/office/drawing/2014/main" id="{B9B8A17F-DC3A-4D9A-AA53-9BFB894CD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6" name="Picture 5" descr="A picture containing cup, indoor, coffee, dark&#10;&#10;Description automatically generated">
            <a:extLst>
              <a:ext uri="{FF2B5EF4-FFF2-40B4-BE49-F238E27FC236}">
                <a16:creationId xmlns:a16="http://schemas.microsoft.com/office/drawing/2014/main" id="{5ADB04C8-997A-430B-9CF0-DF9D497C03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776" y="1312251"/>
            <a:ext cx="6740162" cy="3986977"/>
          </a:xfrm>
          <a:prstGeom prst="rect">
            <a:avLst/>
          </a:prstGeom>
        </p:spPr>
      </p:pic>
    </p:spTree>
    <p:extLst>
      <p:ext uri="{BB962C8B-B14F-4D97-AF65-F5344CB8AC3E}">
        <p14:creationId xmlns:p14="http://schemas.microsoft.com/office/powerpoint/2010/main" val="500507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430947" cy="4686903"/>
          </a:xfrm>
        </p:spPr>
        <p:txBody>
          <a:bodyPr anchor="ctr">
            <a:normAutofit/>
          </a:bodyPr>
          <a:lstStyle/>
          <a:p>
            <a:pPr algn="r"/>
            <a:r>
              <a:rPr lang="en-US" sz="4800" dirty="0">
                <a:solidFill>
                  <a:schemeClr val="tx1"/>
                </a:solidFill>
              </a:rPr>
              <a:t>Definition</a:t>
            </a:r>
            <a:endParaRPr lang="en-IN"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1085549"/>
            <a:ext cx="5579707" cy="4686903"/>
          </a:xfrm>
        </p:spPr>
        <p:txBody>
          <a:bodyPr anchor="ctr">
            <a:normAutofit/>
          </a:bodyPr>
          <a:lstStyle/>
          <a:p>
            <a:r>
              <a:rPr lang="en-US" sz="2400" dirty="0">
                <a:solidFill>
                  <a:schemeClr val="tx1"/>
                </a:solidFill>
              </a:rPr>
              <a:t>Indian Mental Health Act was drafted by the parliament in 1987, but it came into effect in all the states and union territories of India in April 1993. this act replaces the Indian Lunacy Act of 1912.</a:t>
            </a:r>
            <a:endParaRPr lang="en-IN" sz="2400" dirty="0">
              <a:solidFill>
                <a:schemeClr val="tx1"/>
              </a:solidFill>
            </a:endParaRPr>
          </a:p>
        </p:txBody>
      </p:sp>
    </p:spTree>
    <p:extLst>
      <p:ext uri="{BB962C8B-B14F-4D97-AF65-F5344CB8AC3E}">
        <p14:creationId xmlns:p14="http://schemas.microsoft.com/office/powerpoint/2010/main" val="18049736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430947" cy="4686903"/>
          </a:xfrm>
        </p:spPr>
        <p:txBody>
          <a:bodyPr anchor="ctr">
            <a:normAutofit/>
          </a:bodyPr>
          <a:lstStyle/>
          <a:p>
            <a:pPr algn="r"/>
            <a:r>
              <a:rPr lang="en-US" sz="4800" dirty="0">
                <a:solidFill>
                  <a:schemeClr val="tx1"/>
                </a:solidFill>
              </a:rPr>
              <a:t>Need</a:t>
            </a:r>
            <a:endParaRPr lang="en-IN"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1085549"/>
            <a:ext cx="5579707" cy="4686903"/>
          </a:xfrm>
        </p:spPr>
        <p:txBody>
          <a:bodyPr anchor="ctr">
            <a:normAutofit/>
          </a:bodyPr>
          <a:lstStyle/>
          <a:p>
            <a:r>
              <a:rPr lang="en-US" sz="2400" dirty="0">
                <a:solidFill>
                  <a:schemeClr val="tx1"/>
                </a:solidFill>
              </a:rPr>
              <a:t>To change the attitude of the society towards the mentally ill and considerably realized that no stigma should be attached to such illness</a:t>
            </a:r>
          </a:p>
          <a:p>
            <a:r>
              <a:rPr lang="en-US" sz="2400" dirty="0">
                <a:solidFill>
                  <a:schemeClr val="tx1"/>
                </a:solidFill>
              </a:rPr>
              <a:t>Every mentally ill individual has the right to be treated like others sick people</a:t>
            </a:r>
          </a:p>
          <a:p>
            <a:r>
              <a:rPr lang="en-US" sz="2400" dirty="0">
                <a:solidFill>
                  <a:schemeClr val="tx1"/>
                </a:solidFill>
              </a:rPr>
              <a:t>To modify the act according to the rapid advancement of medical science</a:t>
            </a:r>
            <a:endParaRPr lang="en-IN" sz="2400" dirty="0">
              <a:solidFill>
                <a:schemeClr val="tx1"/>
              </a:solidFill>
            </a:endParaRPr>
          </a:p>
        </p:txBody>
      </p:sp>
    </p:spTree>
    <p:extLst>
      <p:ext uri="{BB962C8B-B14F-4D97-AF65-F5344CB8AC3E}">
        <p14:creationId xmlns:p14="http://schemas.microsoft.com/office/powerpoint/2010/main" val="4492777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75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2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430947" cy="4686903"/>
          </a:xfrm>
        </p:spPr>
        <p:txBody>
          <a:bodyPr anchor="ctr">
            <a:normAutofit/>
          </a:bodyPr>
          <a:lstStyle/>
          <a:p>
            <a:pPr algn="r"/>
            <a:r>
              <a:rPr lang="en-US" sz="4800" dirty="0">
                <a:solidFill>
                  <a:schemeClr val="tx1"/>
                </a:solidFill>
              </a:rPr>
              <a:t>Objectives</a:t>
            </a:r>
            <a:endParaRPr lang="en-IN"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719091"/>
            <a:ext cx="6108954" cy="5362113"/>
          </a:xfrm>
        </p:spPr>
        <p:txBody>
          <a:bodyPr anchor="ctr">
            <a:normAutofit/>
          </a:bodyPr>
          <a:lstStyle/>
          <a:p>
            <a:r>
              <a:rPr lang="en-US" sz="2400" dirty="0">
                <a:solidFill>
                  <a:schemeClr val="tx1"/>
                </a:solidFill>
              </a:rPr>
              <a:t>To regulate the power of the government for establishing, licensing and controlling psychiatric hospital</a:t>
            </a:r>
          </a:p>
          <a:p>
            <a:r>
              <a:rPr lang="en-US" sz="2400" dirty="0">
                <a:solidFill>
                  <a:schemeClr val="tx1"/>
                </a:solidFill>
              </a:rPr>
              <a:t>To provide legal aid to mentally ill person</a:t>
            </a:r>
          </a:p>
          <a:p>
            <a:r>
              <a:rPr lang="en-US" sz="2400" dirty="0">
                <a:solidFill>
                  <a:schemeClr val="tx1"/>
                </a:solidFill>
              </a:rPr>
              <a:t>To protect citizens from being detained in psychiatric hospital without sufficient cases</a:t>
            </a:r>
          </a:p>
          <a:p>
            <a:r>
              <a:rPr lang="en-US" sz="2400" dirty="0">
                <a:solidFill>
                  <a:schemeClr val="tx1"/>
                </a:solidFill>
              </a:rPr>
              <a:t>Central and state authorities for mental illness</a:t>
            </a:r>
          </a:p>
          <a:p>
            <a:r>
              <a:rPr lang="en-US" sz="2400" dirty="0">
                <a:solidFill>
                  <a:schemeClr val="tx1"/>
                </a:solidFill>
              </a:rPr>
              <a:t>To regulate maintenance charge of psychiatric hospital/nursing homes</a:t>
            </a:r>
          </a:p>
        </p:txBody>
      </p:sp>
    </p:spTree>
    <p:extLst>
      <p:ext uri="{BB962C8B-B14F-4D97-AF65-F5344CB8AC3E}">
        <p14:creationId xmlns:p14="http://schemas.microsoft.com/office/powerpoint/2010/main" val="21269819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75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25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175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2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430947" cy="4686903"/>
          </a:xfrm>
        </p:spPr>
        <p:txBody>
          <a:bodyPr anchor="ctr">
            <a:normAutofit/>
          </a:bodyPr>
          <a:lstStyle/>
          <a:p>
            <a:pPr algn="r"/>
            <a:r>
              <a:rPr lang="en-US" sz="4800" dirty="0">
                <a:solidFill>
                  <a:schemeClr val="tx1"/>
                </a:solidFill>
              </a:rPr>
              <a:t>Act</a:t>
            </a:r>
            <a:endParaRPr lang="en-IN"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1085549"/>
            <a:ext cx="5579707" cy="4686903"/>
          </a:xfrm>
        </p:spPr>
        <p:txBody>
          <a:bodyPr anchor="ctr">
            <a:normAutofit/>
          </a:bodyPr>
          <a:lstStyle/>
          <a:p>
            <a:pPr marL="0" indent="0">
              <a:buNone/>
            </a:pPr>
            <a:r>
              <a:rPr lang="en-US" sz="2400" dirty="0">
                <a:solidFill>
                  <a:schemeClr val="tx1"/>
                </a:solidFill>
              </a:rPr>
              <a:t>The act is divided into 10 chapters</a:t>
            </a:r>
            <a:endParaRPr lang="en-IN" sz="2400" dirty="0">
              <a:solidFill>
                <a:schemeClr val="tx1"/>
              </a:solidFill>
            </a:endParaRPr>
          </a:p>
        </p:txBody>
      </p:sp>
    </p:spTree>
    <p:extLst>
      <p:ext uri="{BB962C8B-B14F-4D97-AF65-F5344CB8AC3E}">
        <p14:creationId xmlns:p14="http://schemas.microsoft.com/office/powerpoint/2010/main" val="34947976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430947" cy="4686903"/>
          </a:xfrm>
        </p:spPr>
        <p:txBody>
          <a:bodyPr anchor="ctr">
            <a:normAutofit/>
          </a:bodyPr>
          <a:lstStyle/>
          <a:p>
            <a:pPr algn="r"/>
            <a:r>
              <a:rPr lang="en-US" dirty="0">
                <a:solidFill>
                  <a:schemeClr val="tx1"/>
                </a:solidFill>
              </a:rPr>
              <a:t>Chapter - 1</a:t>
            </a:r>
            <a:endParaRPr lang="en-IN"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1085549"/>
            <a:ext cx="5579707" cy="4686903"/>
          </a:xfrm>
        </p:spPr>
        <p:txBody>
          <a:bodyPr anchor="ctr">
            <a:normAutofit/>
          </a:bodyPr>
          <a:lstStyle/>
          <a:p>
            <a:pPr marL="0" indent="0">
              <a:buNone/>
            </a:pPr>
            <a:r>
              <a:rPr lang="en-US" sz="2400" dirty="0"/>
              <a:t>Psychiatric hospital/Nursing homes: A hospital/nursing home established or maintenance by the government or any other person for the case of mentally oil person </a:t>
            </a:r>
          </a:p>
        </p:txBody>
      </p:sp>
    </p:spTree>
    <p:extLst>
      <p:ext uri="{BB962C8B-B14F-4D97-AF65-F5344CB8AC3E}">
        <p14:creationId xmlns:p14="http://schemas.microsoft.com/office/powerpoint/2010/main" val="33687796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430947" cy="4686903"/>
          </a:xfrm>
        </p:spPr>
        <p:txBody>
          <a:bodyPr anchor="ctr">
            <a:normAutofit/>
          </a:bodyPr>
          <a:lstStyle/>
          <a:p>
            <a:pPr algn="r"/>
            <a:r>
              <a:rPr lang="en-US" dirty="0">
                <a:solidFill>
                  <a:schemeClr val="tx1"/>
                </a:solidFill>
              </a:rPr>
              <a:t>Chapter - 2</a:t>
            </a:r>
            <a:endParaRPr lang="en-IN"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1085549"/>
            <a:ext cx="5579707" cy="4686903"/>
          </a:xfrm>
        </p:spPr>
        <p:txBody>
          <a:bodyPr anchor="ctr">
            <a:normAutofit/>
          </a:bodyPr>
          <a:lstStyle/>
          <a:p>
            <a:pPr marL="0" indent="0">
              <a:buNone/>
            </a:pPr>
            <a:r>
              <a:rPr lang="en-US" sz="2400" dirty="0"/>
              <a:t>It deals with establishment of central and state authorities for regulation and co-ordination of mental health services</a:t>
            </a:r>
          </a:p>
        </p:txBody>
      </p:sp>
    </p:spTree>
    <p:extLst>
      <p:ext uri="{BB962C8B-B14F-4D97-AF65-F5344CB8AC3E}">
        <p14:creationId xmlns:p14="http://schemas.microsoft.com/office/powerpoint/2010/main" val="40364564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430947" cy="4686903"/>
          </a:xfrm>
        </p:spPr>
        <p:txBody>
          <a:bodyPr anchor="ctr">
            <a:normAutofit/>
          </a:bodyPr>
          <a:lstStyle/>
          <a:p>
            <a:pPr algn="r"/>
            <a:r>
              <a:rPr lang="en-US" dirty="0">
                <a:solidFill>
                  <a:schemeClr val="tx1"/>
                </a:solidFill>
              </a:rPr>
              <a:t>Chapter - 3</a:t>
            </a:r>
            <a:endParaRPr lang="en-IN"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1085549"/>
            <a:ext cx="5579707" cy="4686903"/>
          </a:xfrm>
        </p:spPr>
        <p:txBody>
          <a:bodyPr anchor="ctr">
            <a:normAutofit/>
          </a:bodyPr>
          <a:lstStyle/>
          <a:p>
            <a:pPr marL="0" indent="0">
              <a:buNone/>
            </a:pPr>
            <a:r>
              <a:rPr lang="en-US" sz="2400" dirty="0"/>
              <a:t>It provides guidelines for establishment and maintenance of psychiatric/nursing home</a:t>
            </a:r>
          </a:p>
        </p:txBody>
      </p:sp>
    </p:spTree>
    <p:extLst>
      <p:ext uri="{BB962C8B-B14F-4D97-AF65-F5344CB8AC3E}">
        <p14:creationId xmlns:p14="http://schemas.microsoft.com/office/powerpoint/2010/main" val="16209094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430947" cy="4686903"/>
          </a:xfrm>
        </p:spPr>
        <p:txBody>
          <a:bodyPr anchor="ctr">
            <a:normAutofit/>
          </a:bodyPr>
          <a:lstStyle/>
          <a:p>
            <a:pPr algn="r"/>
            <a:r>
              <a:rPr lang="en-US" dirty="0">
                <a:solidFill>
                  <a:schemeClr val="tx1"/>
                </a:solidFill>
              </a:rPr>
              <a:t>Chapter - 4</a:t>
            </a:r>
            <a:endParaRPr lang="en-IN"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1085549"/>
            <a:ext cx="5579707" cy="4686903"/>
          </a:xfrm>
        </p:spPr>
        <p:txBody>
          <a:bodyPr anchor="ctr">
            <a:normAutofit/>
          </a:bodyPr>
          <a:lstStyle/>
          <a:p>
            <a:pPr marL="0" indent="0">
              <a:buNone/>
            </a:pPr>
            <a:r>
              <a:rPr lang="en-US" sz="2400" dirty="0"/>
              <a:t>It deals with the procedure for admission and detention in psychiatric hospital/nursing homes</a:t>
            </a:r>
          </a:p>
        </p:txBody>
      </p:sp>
    </p:spTree>
    <p:extLst>
      <p:ext uri="{BB962C8B-B14F-4D97-AF65-F5344CB8AC3E}">
        <p14:creationId xmlns:p14="http://schemas.microsoft.com/office/powerpoint/2010/main" val="20230616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430947" cy="4686903"/>
          </a:xfrm>
        </p:spPr>
        <p:txBody>
          <a:bodyPr anchor="ctr">
            <a:normAutofit/>
          </a:bodyPr>
          <a:lstStyle/>
          <a:p>
            <a:pPr algn="r"/>
            <a:r>
              <a:rPr lang="en-US" dirty="0">
                <a:solidFill>
                  <a:schemeClr val="tx1"/>
                </a:solidFill>
              </a:rPr>
              <a:t>Chapter - 5</a:t>
            </a:r>
            <a:endParaRPr lang="en-IN"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1085549"/>
            <a:ext cx="5579707" cy="4686903"/>
          </a:xfrm>
        </p:spPr>
        <p:txBody>
          <a:bodyPr anchor="ctr">
            <a:normAutofit/>
          </a:bodyPr>
          <a:lstStyle/>
          <a:p>
            <a:pPr marL="0" indent="0">
              <a:buNone/>
            </a:pPr>
            <a:r>
              <a:rPr lang="en-US" sz="2400" dirty="0"/>
              <a:t>Discharge procedure to be followed for a mental hospital under different circumstances</a:t>
            </a:r>
          </a:p>
        </p:txBody>
      </p:sp>
    </p:spTree>
    <p:extLst>
      <p:ext uri="{BB962C8B-B14F-4D97-AF65-F5344CB8AC3E}">
        <p14:creationId xmlns:p14="http://schemas.microsoft.com/office/powerpoint/2010/main" val="4723583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430947" cy="4686903"/>
          </a:xfrm>
        </p:spPr>
        <p:txBody>
          <a:bodyPr anchor="ctr">
            <a:normAutofit/>
          </a:bodyPr>
          <a:lstStyle/>
          <a:p>
            <a:pPr algn="r"/>
            <a:r>
              <a:rPr lang="en-US" dirty="0">
                <a:solidFill>
                  <a:schemeClr val="tx1"/>
                </a:solidFill>
              </a:rPr>
              <a:t>Chapter - 6</a:t>
            </a:r>
            <a:endParaRPr lang="en-IN"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1085549"/>
            <a:ext cx="5579707" cy="4686903"/>
          </a:xfrm>
        </p:spPr>
        <p:txBody>
          <a:bodyPr anchor="ctr">
            <a:normAutofit/>
          </a:bodyPr>
          <a:lstStyle/>
          <a:p>
            <a:pPr marL="0" indent="0">
              <a:buNone/>
            </a:pPr>
            <a:r>
              <a:rPr lang="en-US" sz="2400" dirty="0"/>
              <a:t>Consist of legal customary actions the property posses by mentally ill person</a:t>
            </a:r>
          </a:p>
        </p:txBody>
      </p:sp>
    </p:spTree>
    <p:extLst>
      <p:ext uri="{BB962C8B-B14F-4D97-AF65-F5344CB8AC3E}">
        <p14:creationId xmlns:p14="http://schemas.microsoft.com/office/powerpoint/2010/main" val="1424269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430947" cy="4686903"/>
          </a:xfrm>
        </p:spPr>
        <p:txBody>
          <a:bodyPr anchor="ctr">
            <a:normAutofit/>
          </a:bodyPr>
          <a:lstStyle/>
          <a:p>
            <a:pPr algn="r"/>
            <a:r>
              <a:rPr lang="en-US" dirty="0">
                <a:solidFill>
                  <a:schemeClr val="tx1"/>
                </a:solidFill>
              </a:rPr>
              <a:t>Chapter - 7</a:t>
            </a:r>
            <a:endParaRPr lang="en-IN"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1085549"/>
            <a:ext cx="5579707" cy="4686903"/>
          </a:xfrm>
        </p:spPr>
        <p:txBody>
          <a:bodyPr anchor="ctr">
            <a:normAutofit/>
          </a:bodyPr>
          <a:lstStyle/>
          <a:p>
            <a:pPr marL="0" indent="0">
              <a:buNone/>
            </a:pPr>
            <a:r>
              <a:rPr lang="en-US" sz="2400" dirty="0"/>
              <a:t>Deals with ways and means to meet the lost of maintenance of mentally ill person detained in psychiatric hospital</a:t>
            </a:r>
          </a:p>
        </p:txBody>
      </p:sp>
    </p:spTree>
    <p:extLst>
      <p:ext uri="{BB962C8B-B14F-4D97-AF65-F5344CB8AC3E}">
        <p14:creationId xmlns:p14="http://schemas.microsoft.com/office/powerpoint/2010/main" val="18945995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430947" cy="4686903"/>
          </a:xfrm>
        </p:spPr>
        <p:txBody>
          <a:bodyPr anchor="ctr">
            <a:normAutofit/>
          </a:bodyPr>
          <a:lstStyle/>
          <a:p>
            <a:pPr algn="r"/>
            <a:r>
              <a:rPr lang="en-US" dirty="0">
                <a:solidFill>
                  <a:schemeClr val="tx1"/>
                </a:solidFill>
              </a:rPr>
              <a:t>Chapter - 8</a:t>
            </a:r>
            <a:endParaRPr lang="en-IN"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1085549"/>
            <a:ext cx="5579707" cy="4686903"/>
          </a:xfrm>
        </p:spPr>
        <p:txBody>
          <a:bodyPr anchor="ctr">
            <a:normAutofit/>
          </a:bodyPr>
          <a:lstStyle/>
          <a:p>
            <a:pPr marL="0" indent="0">
              <a:buNone/>
            </a:pPr>
            <a:r>
              <a:rPr lang="en-US" sz="2400" dirty="0"/>
              <a:t>Contains the novel and explicit provision for protection of human right of mentally ill patients</a:t>
            </a:r>
          </a:p>
        </p:txBody>
      </p:sp>
    </p:spTree>
    <p:extLst>
      <p:ext uri="{BB962C8B-B14F-4D97-AF65-F5344CB8AC3E}">
        <p14:creationId xmlns:p14="http://schemas.microsoft.com/office/powerpoint/2010/main" val="19660116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430947" cy="4686903"/>
          </a:xfrm>
        </p:spPr>
        <p:txBody>
          <a:bodyPr anchor="ctr">
            <a:normAutofit/>
          </a:bodyPr>
          <a:lstStyle/>
          <a:p>
            <a:pPr algn="r"/>
            <a:r>
              <a:rPr lang="en-US" dirty="0">
                <a:solidFill>
                  <a:schemeClr val="tx1"/>
                </a:solidFill>
              </a:rPr>
              <a:t>Chapter - 9</a:t>
            </a:r>
            <a:endParaRPr lang="en-IN"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1085549"/>
            <a:ext cx="5579707" cy="4686903"/>
          </a:xfrm>
        </p:spPr>
        <p:txBody>
          <a:bodyPr anchor="ctr">
            <a:normAutofit/>
          </a:bodyPr>
          <a:lstStyle/>
          <a:p>
            <a:pPr marL="0" indent="0">
              <a:buNone/>
            </a:pPr>
            <a:r>
              <a:rPr lang="en-US" sz="2400" dirty="0"/>
              <a:t>Deals with procedure to be followed for the establishment and maintenance of psychiatric hospital and penalties which can be relatively serve and explicit for containing them</a:t>
            </a:r>
          </a:p>
        </p:txBody>
      </p:sp>
    </p:spTree>
    <p:extLst>
      <p:ext uri="{BB962C8B-B14F-4D97-AF65-F5344CB8AC3E}">
        <p14:creationId xmlns:p14="http://schemas.microsoft.com/office/powerpoint/2010/main" val="38157172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430947" cy="4686903"/>
          </a:xfrm>
        </p:spPr>
        <p:txBody>
          <a:bodyPr anchor="ctr">
            <a:normAutofit/>
          </a:bodyPr>
          <a:lstStyle/>
          <a:p>
            <a:pPr algn="r"/>
            <a:r>
              <a:rPr lang="en-US" dirty="0">
                <a:solidFill>
                  <a:schemeClr val="tx1"/>
                </a:solidFill>
              </a:rPr>
              <a:t>Chapter - 10</a:t>
            </a:r>
            <a:endParaRPr lang="en-IN"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1085549"/>
            <a:ext cx="5579707" cy="4686903"/>
          </a:xfrm>
        </p:spPr>
        <p:txBody>
          <a:bodyPr anchor="ctr">
            <a:normAutofit/>
          </a:bodyPr>
          <a:lstStyle/>
          <a:p>
            <a:pPr marL="0" indent="0">
              <a:buNone/>
            </a:pPr>
            <a:r>
              <a:rPr lang="en-US" sz="2400" dirty="0"/>
              <a:t>It deals with clarification pertaining to certain procedures to be followed the medical officer-in-charge of the psychiatric hospital/nursing home</a:t>
            </a:r>
          </a:p>
        </p:txBody>
      </p:sp>
    </p:spTree>
    <p:extLst>
      <p:ext uri="{BB962C8B-B14F-4D97-AF65-F5344CB8AC3E}">
        <p14:creationId xmlns:p14="http://schemas.microsoft.com/office/powerpoint/2010/main" val="37897558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1ECA4FE-7D2F-4576-B767-3A5F5ABFE9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14" name="Rectangle 7">
              <a:extLst>
                <a:ext uri="{FF2B5EF4-FFF2-40B4-BE49-F238E27FC236}">
                  <a16:creationId xmlns:a16="http://schemas.microsoft.com/office/drawing/2014/main" id="{5969441E-5462-4859-86CD-1737FDE36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a:extLst>
                <a:ext uri="{FF2B5EF4-FFF2-40B4-BE49-F238E27FC236}">
                  <a16:creationId xmlns:a16="http://schemas.microsoft.com/office/drawing/2014/main" id="{596BD4B5-6833-40CC-96FE-EDC6756342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C0006F1B-D110-4E34-85DB-3EB4F2183681}"/>
              </a:ext>
            </a:extLst>
          </p:cNvPr>
          <p:cNvSpPr>
            <a:spLocks noGrp="1"/>
          </p:cNvSpPr>
          <p:nvPr>
            <p:ph type="ctrTitle"/>
          </p:nvPr>
        </p:nvSpPr>
        <p:spPr>
          <a:xfrm>
            <a:off x="1683171" y="1169773"/>
            <a:ext cx="8825658" cy="2870161"/>
          </a:xfrm>
        </p:spPr>
        <p:txBody>
          <a:bodyPr anchor="b">
            <a:normAutofit/>
          </a:bodyPr>
          <a:lstStyle/>
          <a:p>
            <a:pPr algn="ctr">
              <a:lnSpc>
                <a:spcPct val="90000"/>
              </a:lnSpc>
            </a:pPr>
            <a:r>
              <a:rPr lang="en-US" sz="5000" dirty="0">
                <a:solidFill>
                  <a:schemeClr val="tx1"/>
                </a:solidFill>
                <a:latin typeface="Calibri" panose="020F0502020204030204" pitchFamily="34" charset="0"/>
                <a:cs typeface="Calibri" panose="020F0502020204030204" pitchFamily="34" charset="0"/>
              </a:rPr>
              <a:t>Summary</a:t>
            </a:r>
            <a:br>
              <a:rPr lang="en-US" sz="5000" dirty="0">
                <a:solidFill>
                  <a:schemeClr val="tx1"/>
                </a:solidFill>
                <a:latin typeface="Calibri" panose="020F0502020204030204" pitchFamily="34" charset="0"/>
                <a:cs typeface="Calibri" panose="020F0502020204030204" pitchFamily="34" charset="0"/>
              </a:rPr>
            </a:br>
            <a:endParaRPr lang="en-IN" sz="5000" dirty="0">
              <a:solidFill>
                <a:schemeClr val="tx1"/>
              </a:solidFill>
              <a:latin typeface="Calibri" panose="020F0502020204030204" pitchFamily="34" charset="0"/>
              <a:cs typeface="Calibri" panose="020F0502020204030204" pitchFamily="34" charset="0"/>
            </a:endParaRPr>
          </a:p>
        </p:txBody>
      </p:sp>
      <p:cxnSp>
        <p:nvCxnSpPr>
          <p:cNvPr id="11" name="Straight Connector 10">
            <a:extLst>
              <a:ext uri="{FF2B5EF4-FFF2-40B4-BE49-F238E27FC236}">
                <a16:creationId xmlns:a16="http://schemas.microsoft.com/office/drawing/2014/main" id="{E81F53E2-F556-42FA-8D24-113839EE19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58249" y="4166888"/>
            <a:ext cx="675502"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3869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4000">
        <p15:prstTrans prst="curtains"/>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grpSp>
      <p:sp>
        <p:nvSpPr>
          <p:cNvPr id="2" name="Title 1">
            <a:extLst>
              <a:ext uri="{FF2B5EF4-FFF2-40B4-BE49-F238E27FC236}">
                <a16:creationId xmlns:a16="http://schemas.microsoft.com/office/drawing/2014/main" id="{81FAAFE6-BAF3-4839-B2E3-8B80AAECEE4D}"/>
              </a:ext>
            </a:extLst>
          </p:cNvPr>
          <p:cNvSpPr>
            <a:spLocks noGrp="1"/>
          </p:cNvSpPr>
          <p:nvPr>
            <p:ph type="title"/>
          </p:nvPr>
        </p:nvSpPr>
        <p:spPr>
          <a:xfrm>
            <a:off x="836247" y="1085549"/>
            <a:ext cx="3540437" cy="4686903"/>
          </a:xfrm>
        </p:spPr>
        <p:txBody>
          <a:bodyPr anchor="ctr">
            <a:normAutofit/>
          </a:bodyPr>
          <a:lstStyle/>
          <a:p>
            <a:pPr algn="r"/>
            <a:r>
              <a:rPr lang="en-US" sz="4800" dirty="0">
                <a:solidFill>
                  <a:schemeClr val="tx1"/>
                </a:solidFill>
              </a:rPr>
              <a:t>Conclusion</a:t>
            </a:r>
            <a:endParaRPr lang="en-IN" sz="4800"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B380B-4920-4D1D-AFD3-8D11384E5013}"/>
              </a:ext>
            </a:extLst>
          </p:cNvPr>
          <p:cNvSpPr>
            <a:spLocks noGrp="1"/>
          </p:cNvSpPr>
          <p:nvPr>
            <p:ph idx="1"/>
          </p:nvPr>
        </p:nvSpPr>
        <p:spPr>
          <a:xfrm>
            <a:off x="5041399" y="1085549"/>
            <a:ext cx="5579707" cy="4686903"/>
          </a:xfrm>
        </p:spPr>
        <p:txBody>
          <a:bodyPr anchor="ctr">
            <a:normAutofit/>
          </a:bodyPr>
          <a:lstStyle/>
          <a:p>
            <a:pPr marL="0" indent="0">
              <a:buNone/>
            </a:pPr>
            <a:r>
              <a:rPr lang="en-US" sz="2400" dirty="0">
                <a:solidFill>
                  <a:schemeClr val="tx1"/>
                </a:solidFill>
              </a:rPr>
              <a:t>The Indian Mental Health Act(MHA) was drafted by the parliament to change the attitude of the society towards the mentally ill. In the advancement of medical science, it has become necessary to make fresh legislation in accordance with the new approach</a:t>
            </a:r>
          </a:p>
        </p:txBody>
      </p:sp>
    </p:spTree>
    <p:extLst>
      <p:ext uri="{BB962C8B-B14F-4D97-AF65-F5344CB8AC3E}">
        <p14:creationId xmlns:p14="http://schemas.microsoft.com/office/powerpoint/2010/main" val="4594811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1ECA4FE-7D2F-4576-B767-3A5F5ABFE9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14" name="Rectangle 7">
              <a:extLst>
                <a:ext uri="{FF2B5EF4-FFF2-40B4-BE49-F238E27FC236}">
                  <a16:creationId xmlns:a16="http://schemas.microsoft.com/office/drawing/2014/main" id="{5969441E-5462-4859-86CD-1737FDE36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a:extLst>
                <a:ext uri="{FF2B5EF4-FFF2-40B4-BE49-F238E27FC236}">
                  <a16:creationId xmlns:a16="http://schemas.microsoft.com/office/drawing/2014/main" id="{596BD4B5-6833-40CC-96FE-EDC6756342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C0006F1B-D110-4E34-85DB-3EB4F2183681}"/>
              </a:ext>
            </a:extLst>
          </p:cNvPr>
          <p:cNvSpPr>
            <a:spLocks noGrp="1"/>
          </p:cNvSpPr>
          <p:nvPr>
            <p:ph type="ctrTitle"/>
          </p:nvPr>
        </p:nvSpPr>
        <p:spPr>
          <a:xfrm>
            <a:off x="1683171" y="1169773"/>
            <a:ext cx="8825658" cy="2870161"/>
          </a:xfrm>
        </p:spPr>
        <p:txBody>
          <a:bodyPr anchor="b">
            <a:normAutofit/>
          </a:bodyPr>
          <a:lstStyle/>
          <a:p>
            <a:pPr algn="ctr">
              <a:lnSpc>
                <a:spcPct val="90000"/>
              </a:lnSpc>
            </a:pPr>
            <a:r>
              <a:rPr lang="en-US" sz="5000">
                <a:solidFill>
                  <a:schemeClr val="tx1"/>
                </a:solidFill>
                <a:latin typeface="Calibri" panose="020F0502020204030204" pitchFamily="34" charset="0"/>
                <a:cs typeface="Calibri" panose="020F0502020204030204" pitchFamily="34" charset="0"/>
              </a:rPr>
              <a:t>Thank you</a:t>
            </a:r>
            <a:br>
              <a:rPr lang="en-US" sz="5000">
                <a:solidFill>
                  <a:schemeClr val="tx1"/>
                </a:solidFill>
                <a:latin typeface="Calibri" panose="020F0502020204030204" pitchFamily="34" charset="0"/>
                <a:cs typeface="Calibri" panose="020F0502020204030204" pitchFamily="34" charset="0"/>
              </a:rPr>
            </a:br>
            <a:br>
              <a:rPr lang="en-US" sz="5000">
                <a:solidFill>
                  <a:schemeClr val="tx1"/>
                </a:solidFill>
                <a:latin typeface="Calibri" panose="020F0502020204030204" pitchFamily="34" charset="0"/>
                <a:cs typeface="Calibri" panose="020F0502020204030204" pitchFamily="34" charset="0"/>
              </a:rPr>
            </a:br>
            <a:br>
              <a:rPr lang="en-US" sz="5000">
                <a:solidFill>
                  <a:schemeClr val="tx1"/>
                </a:solidFill>
                <a:latin typeface="Calibri" panose="020F0502020204030204" pitchFamily="34" charset="0"/>
                <a:cs typeface="Calibri" panose="020F0502020204030204" pitchFamily="34" charset="0"/>
              </a:rPr>
            </a:br>
            <a:r>
              <a:rPr lang="en-US" sz="5000">
                <a:solidFill>
                  <a:schemeClr val="tx1"/>
                </a:solidFill>
                <a:latin typeface="Calibri" panose="020F0502020204030204" pitchFamily="34" charset="0"/>
                <a:cs typeface="Calibri" panose="020F0502020204030204" pitchFamily="34" charset="0"/>
              </a:rPr>
              <a:t>Questions ?</a:t>
            </a:r>
            <a:endParaRPr lang="en-IN" sz="5000">
              <a:solidFill>
                <a:schemeClr val="tx1"/>
              </a:solidFill>
              <a:latin typeface="Calibri" panose="020F0502020204030204" pitchFamily="34" charset="0"/>
              <a:cs typeface="Calibri" panose="020F0502020204030204" pitchFamily="34" charset="0"/>
            </a:endParaRPr>
          </a:p>
        </p:txBody>
      </p:sp>
      <p:cxnSp>
        <p:nvCxnSpPr>
          <p:cNvPr id="11" name="Straight Connector 10">
            <a:extLst>
              <a:ext uri="{FF2B5EF4-FFF2-40B4-BE49-F238E27FC236}">
                <a16:creationId xmlns:a16="http://schemas.microsoft.com/office/drawing/2014/main" id="{E81F53E2-F556-42FA-8D24-113839EE19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58249" y="4166888"/>
            <a:ext cx="675502"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CF4B2B7-7395-4CBC-ADEB-20E2B2A3C88F}"/>
              </a:ext>
            </a:extLst>
          </p:cNvPr>
          <p:cNvSpPr txBox="1"/>
          <p:nvPr/>
        </p:nvSpPr>
        <p:spPr>
          <a:xfrm>
            <a:off x="9659878" y="5365061"/>
            <a:ext cx="1697901" cy="646331"/>
          </a:xfrm>
          <a:prstGeom prst="rect">
            <a:avLst/>
          </a:prstGeom>
          <a:noFill/>
        </p:spPr>
        <p:txBody>
          <a:bodyPr wrap="none" rtlCol="0">
            <a:spAutoFit/>
          </a:bodyPr>
          <a:lstStyle/>
          <a:p>
            <a:r>
              <a:rPr lang="en-US" dirty="0"/>
              <a:t>Saima Akhtar</a:t>
            </a:r>
          </a:p>
          <a:p>
            <a:r>
              <a:rPr lang="en-US" dirty="0"/>
              <a:t>GNM 2</a:t>
            </a:r>
            <a:r>
              <a:rPr lang="en-US" dirty="0">
                <a:latin typeface="Microsoft Uighur" panose="02000000000000000000" pitchFamily="2" charset="-78"/>
                <a:cs typeface="Microsoft Uighur" panose="02000000000000000000" pitchFamily="2" charset="-78"/>
              </a:rPr>
              <a:t>nd</a:t>
            </a:r>
            <a:r>
              <a:rPr lang="en-US" dirty="0"/>
              <a:t> year</a:t>
            </a:r>
            <a:endParaRPr lang="en-IN" dirty="0"/>
          </a:p>
        </p:txBody>
      </p:sp>
    </p:spTree>
    <p:extLst>
      <p:ext uri="{BB962C8B-B14F-4D97-AF65-F5344CB8AC3E}">
        <p14:creationId xmlns:p14="http://schemas.microsoft.com/office/powerpoint/2010/main" val="28176411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4000">
        <p15:prstTrans prst="curtains"/>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ontrol xmlns="http://schemas.microsoft.com/VisualStudio/2011/storyboarding/control">
  <Id Name="System.Storyboarding.Backgrounds.WindowsPhone" Revision="1" Stencil="System.Storyboarding.Backgrounds" StencilVersion="0.1"/>
</Control>
</file>

<file path=customXml/item2.xml><?xml version="1.0" encoding="utf-8"?>
<Control xmlns="http://schemas.microsoft.com/VisualStudio/2011/storyboarding/control">
  <Id Name="System.Storyboarding.Backgrounds.WindowsPhoneLandscape" Revision="1" Stencil="System.Storyboarding.Backgrounds" StencilVersion="0.1"/>
</Control>
</file>

<file path=customXml/item3.xml><?xml version="1.0" encoding="utf-8"?>
<Control xmlns="http://schemas.microsoft.com/VisualStudio/2011/storyboarding/control">
  <Id Name="System.Storyboarding.Backgrounds.Window" Revision="1" Stencil="System.Storyboarding.Backgrounds" StencilVersion="0.1"/>
</Control>
</file>

<file path=customXml/itemProps1.xml><?xml version="1.0" encoding="utf-8"?>
<ds:datastoreItem xmlns:ds="http://schemas.openxmlformats.org/officeDocument/2006/customXml" ds:itemID="{4C8FB14D-782B-42D4-826B-D6E3B8E0EB73}">
  <ds:schemaRefs>
    <ds:schemaRef ds:uri="http://schemas.microsoft.com/VisualStudio/2011/storyboarding/control"/>
  </ds:schemaRefs>
</ds:datastoreItem>
</file>

<file path=customXml/itemProps2.xml><?xml version="1.0" encoding="utf-8"?>
<ds:datastoreItem xmlns:ds="http://schemas.openxmlformats.org/officeDocument/2006/customXml" ds:itemID="{F1F02D87-4856-4FDD-89B7-7A76D3DFD70B}">
  <ds:schemaRefs>
    <ds:schemaRef ds:uri="http://schemas.microsoft.com/VisualStudio/2011/storyboarding/control"/>
  </ds:schemaRefs>
</ds:datastoreItem>
</file>

<file path=customXml/itemProps3.xml><?xml version="1.0" encoding="utf-8"?>
<ds:datastoreItem xmlns:ds="http://schemas.openxmlformats.org/officeDocument/2006/customXml" ds:itemID="{3346EFCD-78B9-4A19-9ED5-7D1804E244BE}">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Ion Boardroom</Template>
  <TotalTime>436</TotalTime>
  <Words>426</Words>
  <Application>Microsoft Office PowerPoint</Application>
  <PresentationFormat>Widescreen</PresentationFormat>
  <Paragraphs>42</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Century Gothic</vt:lpstr>
      <vt:lpstr>Microsoft Uighur</vt:lpstr>
      <vt:lpstr>Wingdings 3</vt:lpstr>
      <vt:lpstr>Ion Boardroom</vt:lpstr>
      <vt:lpstr>PowerPoint Presentation</vt:lpstr>
      <vt:lpstr>Psychiatric  </vt:lpstr>
      <vt:lpstr>Mental Health Act</vt:lpstr>
      <vt:lpstr>Definition</vt:lpstr>
      <vt:lpstr>Need</vt:lpstr>
      <vt:lpstr>Objectives</vt:lpstr>
      <vt:lpstr>Act</vt:lpstr>
      <vt:lpstr>Chapter - 1</vt:lpstr>
      <vt:lpstr>Chapter - 2</vt:lpstr>
      <vt:lpstr>Chapter - 3</vt:lpstr>
      <vt:lpstr>Chapter - 4</vt:lpstr>
      <vt:lpstr>Chapter - 5</vt:lpstr>
      <vt:lpstr>Chapter - 6</vt:lpstr>
      <vt:lpstr>Chapter - 7</vt:lpstr>
      <vt:lpstr>Chapter - 8</vt:lpstr>
      <vt:lpstr>Chapter - 9</vt:lpstr>
      <vt:lpstr>Chapter - 10</vt:lpstr>
      <vt:lpstr>Summary </vt:lpstr>
      <vt:lpstr>Conclusion</vt:lpstr>
      <vt:lpstr>Thank you   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SURGICAL NURSING II</dc:title>
  <dc:creator>Rizwan Mohammed | MAQ Software</dc:creator>
  <cp:lastModifiedBy>Mohd Khan</cp:lastModifiedBy>
  <cp:revision>13</cp:revision>
  <dcterms:created xsi:type="dcterms:W3CDTF">2021-01-30T16:22:25Z</dcterms:created>
  <dcterms:modified xsi:type="dcterms:W3CDTF">2021-02-25T06:07:24Z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etDate">
    <vt:lpwstr>2021-01-30T17:29:02Z</vt:lpwstr>
  </property>
  <property fmtid="{D5CDD505-2E9C-101B-9397-08002B2CF9AE}" pid="4" name="MSIP_Label_f42aa342-8706-4288-bd11-ebb85995028c_Method">
    <vt:lpwstr>Standard</vt:lpwstr>
  </property>
  <property fmtid="{D5CDD505-2E9C-101B-9397-08002B2CF9AE}" pid="5" name="MSIP_Label_f42aa342-8706-4288-bd11-ebb85995028c_Name">
    <vt:lpwstr>Internal</vt:lpwstr>
  </property>
  <property fmtid="{D5CDD505-2E9C-101B-9397-08002B2CF9AE}" pid="6" name="MSIP_Label_f42aa342-8706-4288-bd11-ebb85995028c_SiteId">
    <vt:lpwstr>72f988bf-86f1-41af-91ab-2d7cd011db47</vt:lpwstr>
  </property>
  <property fmtid="{D5CDD505-2E9C-101B-9397-08002B2CF9AE}" pid="7" name="MSIP_Label_f42aa342-8706-4288-bd11-ebb85995028c_ActionId">
    <vt:lpwstr>5a74308e-6166-48b2-ba78-7530c450eb5e</vt:lpwstr>
  </property>
  <property fmtid="{D5CDD505-2E9C-101B-9397-08002B2CF9AE}" pid="8" name="MSIP_Label_f42aa342-8706-4288-bd11-ebb85995028c_ContentBits">
    <vt:lpwstr>0</vt:lpwstr>
  </property>
  <property fmtid="{D5CDD505-2E9C-101B-9397-08002B2CF9AE}" pid="9" name="Tfs.IsStoryboard">
    <vt:bool>true</vt:bool>
  </property>
</Properties>
</file>